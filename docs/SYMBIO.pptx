
<file path=[Content_Types].xml><?xml version="1.0" encoding="utf-8"?>
<Types xmlns="http://schemas.openxmlformats.org/package/2006/content-types">
  <Default Extension="jpeg" ContentType="image/jpeg"/>
  <Default Extension="jpg" ContentType="image/jpeg"/>
  <Default Extension="org&amp;utm_campaign=index&amp;utm_content=thumbnail" ContentType="image/pn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B1F5"/>
    <a:srgbClr val="8078EE"/>
    <a:srgbClr val="5F54EA"/>
    <a:srgbClr val="3C2FE5"/>
    <a:srgbClr val="7564F5"/>
    <a:srgbClr val="5044E8"/>
    <a:srgbClr val="A52371"/>
    <a:srgbClr val="E620E9"/>
    <a:srgbClr val="009688"/>
    <a:srgbClr val="FFD2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p:scale>
          <a:sx n="58" d="100"/>
          <a:sy n="58" d="100"/>
        </p:scale>
        <p:origin x="91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FFF529-2985-4E83-8158-BB6544CCAA55}"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0469CA-9024-462B-99EE-27F97833AF43}" type="slidenum">
              <a:rPr lang="en-US" smtClean="0"/>
              <a:t>‹#›</a:t>
            </a:fld>
            <a:endParaRPr lang="en-US"/>
          </a:p>
        </p:txBody>
      </p:sp>
    </p:spTree>
    <p:extLst>
      <p:ext uri="{BB962C8B-B14F-4D97-AF65-F5344CB8AC3E}">
        <p14:creationId xmlns:p14="http://schemas.microsoft.com/office/powerpoint/2010/main" val="1750458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0469CA-9024-462B-99EE-27F97833AF43}" type="slidenum">
              <a:rPr lang="en-US" smtClean="0"/>
              <a:t>9</a:t>
            </a:fld>
            <a:endParaRPr lang="en-US"/>
          </a:p>
        </p:txBody>
      </p:sp>
    </p:spTree>
    <p:extLst>
      <p:ext uri="{BB962C8B-B14F-4D97-AF65-F5344CB8AC3E}">
        <p14:creationId xmlns:p14="http://schemas.microsoft.com/office/powerpoint/2010/main" val="20757339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2BB4EE75-C148-427C-8834-2411A9AB4818}" type="datetimeFigureOut">
              <a:rPr lang="en-IN" smtClean="0"/>
              <a:t>08-10-2026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44A8158D-81F5-4916-B9B5-6EBDE03D991A}" type="slidenum">
              <a:rPr lang="en-IN" smtClean="0"/>
              <a:t>‹#›</a:t>
            </a:fld>
            <a:endParaRPr lang="en-IN"/>
          </a:p>
        </p:txBody>
      </p:sp>
    </p:spTree>
    <p:extLst>
      <p:ext uri="{BB962C8B-B14F-4D97-AF65-F5344CB8AC3E}">
        <p14:creationId xmlns:p14="http://schemas.microsoft.com/office/powerpoint/2010/main" val="16949597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2857981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2BB4EE75-C148-427C-8834-2411A9AB4818}" type="datetimeFigureOut">
              <a:rPr lang="en-IN" smtClean="0"/>
              <a:t>08-10-2026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44A8158D-81F5-4916-B9B5-6EBDE03D991A}" type="slidenum">
              <a:rPr lang="en-IN" smtClean="0"/>
              <a:t>‹#›</a:t>
            </a:fld>
            <a:endParaRPr lang="en-IN"/>
          </a:p>
        </p:txBody>
      </p:sp>
    </p:spTree>
    <p:extLst>
      <p:ext uri="{BB962C8B-B14F-4D97-AF65-F5344CB8AC3E}">
        <p14:creationId xmlns:p14="http://schemas.microsoft.com/office/powerpoint/2010/main" val="159189950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2BB4EE75-C148-427C-8834-2411A9AB4818}" type="datetimeFigureOut">
              <a:rPr lang="en-IN" smtClean="0"/>
              <a:t>08-10-2026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44A8158D-81F5-4916-B9B5-6EBDE03D991A}" type="slidenum">
              <a:rPr lang="en-IN" smtClean="0"/>
              <a:t>‹#›</a:t>
            </a:fld>
            <a:endParaRPr lang="en-IN"/>
          </a:p>
        </p:txBody>
      </p:sp>
    </p:spTree>
    <p:extLst>
      <p:ext uri="{BB962C8B-B14F-4D97-AF65-F5344CB8AC3E}">
        <p14:creationId xmlns:p14="http://schemas.microsoft.com/office/powerpoint/2010/main" val="34922676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2BB4EE75-C148-427C-8834-2411A9AB4818}" type="datetimeFigureOut">
              <a:rPr lang="en-IN" smtClean="0"/>
              <a:t>08-10-2026</a:t>
            </a:fld>
            <a:endParaRPr lang="en-IN"/>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44A8158D-81F5-4916-B9B5-6EBDE03D991A}" type="slidenum">
              <a:rPr lang="en-IN" smtClean="0"/>
              <a:t>‹#›</a:t>
            </a:fld>
            <a:endParaRPr lang="en-IN"/>
          </a:p>
        </p:txBody>
      </p:sp>
    </p:spTree>
    <p:extLst>
      <p:ext uri="{BB962C8B-B14F-4D97-AF65-F5344CB8AC3E}">
        <p14:creationId xmlns:p14="http://schemas.microsoft.com/office/powerpoint/2010/main" val="2366445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1989329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1318283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3157741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504024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2BB4EE75-C148-427C-8834-2411A9AB4818}" type="datetimeFigureOut">
              <a:rPr lang="en-IN" smtClean="0"/>
              <a:t>08-10-2026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2879143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2BB4EE75-C148-427C-8834-2411A9AB4818}" type="datetimeFigureOut">
              <a:rPr lang="en-IN" smtClean="0"/>
              <a:t>08-10-2026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343309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2BB4EE75-C148-427C-8834-2411A9AB4818}" type="datetimeFigureOut">
              <a:rPr lang="en-IN" smtClean="0"/>
              <a:t>08-10-2026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44A8158D-81F5-4916-B9B5-6EBDE03D991A}" type="slidenum">
              <a:rPr lang="en-IN" smtClean="0"/>
              <a:t>‹#›</a:t>
            </a:fld>
            <a:endParaRPr lang="en-IN"/>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04144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2BB4EE75-C148-427C-8834-2411A9AB4818}" type="datetimeFigureOut">
              <a:rPr lang="en-IN" smtClean="0"/>
              <a:t>08-10-2026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44A8158D-81F5-4916-B9B5-6EBDE03D991A}" type="slidenum">
              <a:rPr lang="en-IN" smtClean="0"/>
              <a:t>‹#›</a:t>
            </a:fld>
            <a:endParaRPr lang="en-IN"/>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2000599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IN"/>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44A8158D-81F5-4916-B9B5-6EBDE03D991A}" type="slidenum">
              <a:rPr lang="en-IN" smtClean="0"/>
              <a:t>‹#›</a:t>
            </a:fld>
            <a:endParaRPr lang="en-IN"/>
          </a:p>
        </p:txBody>
      </p:sp>
    </p:spTree>
    <p:extLst>
      <p:ext uri="{BB962C8B-B14F-4D97-AF65-F5344CB8AC3E}">
        <p14:creationId xmlns:p14="http://schemas.microsoft.com/office/powerpoint/2010/main" val="8913465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2BB4EE75-C148-427C-8834-2411A9AB4818}" type="datetimeFigureOut">
              <a:rPr lang="en-IN" smtClean="0"/>
              <a:t>08-10-2026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13376195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2BB4EE75-C148-427C-8834-2411A9AB4818}" type="datetimeFigureOut">
              <a:rPr lang="en-IN" smtClean="0"/>
              <a:t>08-10-2026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44A8158D-81F5-4916-B9B5-6EBDE03D991A}" type="slidenum">
              <a:rPr lang="en-IN" smtClean="0"/>
              <a:t>‹#›</a:t>
            </a:fld>
            <a:endParaRPr lang="en-IN"/>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7869482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2BB4EE75-C148-427C-8834-2411A9AB4818}" type="datetimeFigureOut">
              <a:rPr lang="en-IN" smtClean="0"/>
              <a:t>08-10-2026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44A8158D-81F5-4916-B9B5-6EBDE03D991A}" type="slidenum">
              <a:rPr lang="en-IN" smtClean="0"/>
              <a:t>‹#›</a:t>
            </a:fld>
            <a:endParaRPr lang="en-IN"/>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7763053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4195930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13558782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2220445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17809124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2E940BF-81C2-1FFB-391F-670B2E738E5C}"/>
              </a:ext>
            </a:extLst>
          </p:cNvPr>
          <p:cNvSpPr>
            <a:spLocks noGrp="1"/>
          </p:cNvSpPr>
          <p:nvPr>
            <p:ph sz="quarter" idx="15"/>
          </p:nvPr>
        </p:nvSpPr>
        <p:spPr>
          <a:xfrm>
            <a:off x="182880" y="1645920"/>
            <a:ext cx="5420409"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FB763AB3-1DFB-9F9F-2339-33F3C49C8C10}"/>
              </a:ext>
            </a:extLst>
          </p:cNvPr>
          <p:cNvSpPr>
            <a:spLocks noGrp="1"/>
          </p:cNvSpPr>
          <p:nvPr>
            <p:ph sz="quarter" idx="16"/>
          </p:nvPr>
        </p:nvSpPr>
        <p:spPr>
          <a:xfrm>
            <a:off x="6248400" y="1645920"/>
            <a:ext cx="5261184"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15898766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D6A39E64-722E-F001-F641-974F5225314A}"/>
              </a:ext>
            </a:extLst>
          </p:cNvPr>
          <p:cNvSpPr>
            <a:spLocks noGrp="1"/>
          </p:cNvSpPr>
          <p:nvPr>
            <p:ph sz="quarter" idx="15"/>
          </p:nvPr>
        </p:nvSpPr>
        <p:spPr>
          <a:xfrm>
            <a:off x="181631"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4B9C0BFD-5C7B-FA0D-DCE8-95D24728FEB0}"/>
              </a:ext>
            </a:extLst>
          </p:cNvPr>
          <p:cNvSpPr>
            <a:spLocks noGrp="1"/>
          </p:cNvSpPr>
          <p:nvPr>
            <p:ph sz="quarter" idx="16"/>
          </p:nvPr>
        </p:nvSpPr>
        <p:spPr>
          <a:xfrm>
            <a:off x="6245352"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IN"/>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11990849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12105771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7808437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18113644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BB4EE75-C148-427C-8834-2411A9AB4818}" type="datetimeFigureOut">
              <a:rPr lang="en-IN" smtClean="0"/>
              <a:t>08-10-2026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44A8158D-81F5-4916-B9B5-6EBDE03D991A}" type="slidenum">
              <a:rPr lang="en-IN" smtClean="0"/>
              <a:t>‹#›</a:t>
            </a:fld>
            <a:endParaRPr lang="en-IN"/>
          </a:p>
        </p:txBody>
      </p:sp>
    </p:spTree>
    <p:extLst>
      <p:ext uri="{BB962C8B-B14F-4D97-AF65-F5344CB8AC3E}">
        <p14:creationId xmlns:p14="http://schemas.microsoft.com/office/powerpoint/2010/main" val="4272609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endParaRPr lang="en-IN"/>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2BB4EE75-C148-427C-8834-2411A9AB4818}" type="datetimeFigureOut">
              <a:rPr lang="en-IN" smtClean="0"/>
              <a:t>08-10-2026</a:t>
            </a:fld>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44A8158D-81F5-4916-B9B5-6EBDE03D991A}" type="slidenum">
              <a:rPr lang="en-IN" smtClean="0"/>
              <a:t>‹#›</a:t>
            </a:fld>
            <a:endParaRPr lang="en-IN"/>
          </a:p>
        </p:txBody>
      </p:sp>
    </p:spTree>
    <p:extLst>
      <p:ext uri="{BB962C8B-B14F-4D97-AF65-F5344CB8AC3E}">
        <p14:creationId xmlns:p14="http://schemas.microsoft.com/office/powerpoint/2010/main" val="1175482964"/>
      </p:ext>
    </p:extLst>
  </p:cSld>
  <p:clrMap bg1="dk1" tx1="lt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4" r:id="rId18"/>
    <p:sldLayoutId id="2147483735" r:id="rId19"/>
    <p:sldLayoutId id="2147483736" r:id="rId20"/>
    <p:sldLayoutId id="2147483737" r:id="rId21"/>
    <p:sldLayoutId id="2147483738" r:id="rId22"/>
    <p:sldLayoutId id="2147483739" r:id="rId23"/>
    <p:sldLayoutId id="2147483740" r:id="rId24"/>
    <p:sldLayoutId id="2147483741" r:id="rId25"/>
    <p:sldLayoutId id="2147483742" r:id="rId26"/>
    <p:sldLayoutId id="2147483743" r:id="rId27"/>
  </p:sldLayoutIdLst>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microsoft.com/office/2007/relationships/hdphoto" Target="../media/hdphoto1.wdp"/><Relationship Id="rId7" Type="http://schemas.openxmlformats.org/officeDocument/2006/relationships/image" Target="../media/image13.org&amp;utm_campaign=index&amp;utm_content=thumbnail"/><Relationship Id="rId12"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org&amp;utm_campaign=index&amp;utm_content=thumbnail"/><Relationship Id="rId11" Type="http://schemas.openxmlformats.org/officeDocument/2006/relationships/image" Target="../media/image17.png"/><Relationship Id="rId5" Type="http://schemas.openxmlformats.org/officeDocument/2006/relationships/image" Target="../media/image11.org&amp;utm_campaign=index&amp;utm_content=thumbnail"/><Relationship Id="rId10" Type="http://schemas.openxmlformats.org/officeDocument/2006/relationships/image" Target="../media/image16.png"/><Relationship Id="rId4" Type="http://schemas.openxmlformats.org/officeDocument/2006/relationships/image" Target="../media/image10.org&amp;utm_campaign=index&amp;utm_content=thumbnail"/><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DB7BC-CAB5-2552-3AFA-326DD34A2394}"/>
              </a:ext>
            </a:extLst>
          </p:cNvPr>
          <p:cNvSpPr>
            <a:spLocks noGrp="1"/>
          </p:cNvSpPr>
          <p:nvPr>
            <p:ph type="ctrTitle"/>
          </p:nvPr>
        </p:nvSpPr>
        <p:spPr/>
        <p:txBody>
          <a:bodyPr/>
          <a:lstStyle/>
          <a:p>
            <a:r>
              <a:rPr lang="en-US" dirty="0"/>
              <a:t>SYMBIO</a:t>
            </a:r>
            <a:endParaRPr lang="en-IN" dirty="0"/>
          </a:p>
        </p:txBody>
      </p:sp>
      <p:sp>
        <p:nvSpPr>
          <p:cNvPr id="3" name="Subtitle 2">
            <a:extLst>
              <a:ext uri="{FF2B5EF4-FFF2-40B4-BE49-F238E27FC236}">
                <a16:creationId xmlns:a16="http://schemas.microsoft.com/office/drawing/2014/main" id="{94487AB0-100E-0DE3-7F14-29471B90B69E}"/>
              </a:ext>
            </a:extLst>
          </p:cNvPr>
          <p:cNvSpPr>
            <a:spLocks noGrp="1"/>
          </p:cNvSpPr>
          <p:nvPr>
            <p:ph type="subTitle" idx="1"/>
          </p:nvPr>
        </p:nvSpPr>
        <p:spPr/>
        <p:txBody>
          <a:bodyPr/>
          <a:lstStyle/>
          <a:p>
            <a:r>
              <a:rPr lang="en-US" dirty="0" err="1">
                <a:solidFill>
                  <a:srgbClr val="8078EE"/>
                </a:solidFill>
              </a:rPr>
              <a:t>Skibidi</a:t>
            </a:r>
            <a:r>
              <a:rPr lang="en-US" dirty="0">
                <a:solidFill>
                  <a:srgbClr val="8078EE"/>
                </a:solidFill>
              </a:rPr>
              <a:t> </a:t>
            </a:r>
            <a:r>
              <a:rPr lang="en-US" dirty="0" err="1">
                <a:solidFill>
                  <a:srgbClr val="8078EE"/>
                </a:solidFill>
              </a:rPr>
              <a:t>Meowzers</a:t>
            </a:r>
            <a:r>
              <a:rPr lang="en-US" dirty="0">
                <a:solidFill>
                  <a:srgbClr val="8078EE"/>
                </a:solidFill>
              </a:rPr>
              <a:t> </a:t>
            </a:r>
            <a:endParaRPr lang="en-IN" dirty="0">
              <a:solidFill>
                <a:srgbClr val="8078EE"/>
              </a:solidFill>
            </a:endParaRPr>
          </a:p>
        </p:txBody>
      </p:sp>
    </p:spTree>
    <p:extLst>
      <p:ext uri="{BB962C8B-B14F-4D97-AF65-F5344CB8AC3E}">
        <p14:creationId xmlns:p14="http://schemas.microsoft.com/office/powerpoint/2010/main" val="2205268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BC0F02-9FCC-8637-F8D6-EC56739F0925}"/>
              </a:ext>
            </a:extLst>
          </p:cNvPr>
          <p:cNvSpPr>
            <a:spLocks noGrp="1"/>
          </p:cNvSpPr>
          <p:nvPr>
            <p:ph type="title"/>
          </p:nvPr>
        </p:nvSpPr>
        <p:spPr/>
        <p:txBody>
          <a:bodyPr/>
          <a:lstStyle/>
          <a:p>
            <a:r>
              <a:rPr lang="en-US" dirty="0">
                <a:solidFill>
                  <a:srgbClr val="8078EE"/>
                </a:solidFill>
              </a:rPr>
              <a:t>Problem</a:t>
            </a:r>
            <a:endParaRPr lang="en-IN" dirty="0">
              <a:solidFill>
                <a:srgbClr val="8078EE"/>
              </a:solidFill>
            </a:endParaRPr>
          </a:p>
        </p:txBody>
      </p:sp>
      <p:sp>
        <p:nvSpPr>
          <p:cNvPr id="5" name="Content Placeholder 4">
            <a:extLst>
              <a:ext uri="{FF2B5EF4-FFF2-40B4-BE49-F238E27FC236}">
                <a16:creationId xmlns:a16="http://schemas.microsoft.com/office/drawing/2014/main" id="{A278251E-68A3-8C5B-D6EF-391ACE676D6E}"/>
              </a:ext>
            </a:extLst>
          </p:cNvPr>
          <p:cNvSpPr>
            <a:spLocks noGrp="1"/>
          </p:cNvSpPr>
          <p:nvPr>
            <p:ph sz="quarter" idx="13"/>
          </p:nvPr>
        </p:nvSpPr>
        <p:spPr/>
        <p:txBody>
          <a:bodyPr>
            <a:normAutofit/>
          </a:bodyPr>
          <a:lstStyle/>
          <a:p>
            <a:pPr marL="0" indent="0">
              <a:buNone/>
            </a:pPr>
            <a:r>
              <a:rPr lang="en-US" sz="1800" dirty="0">
                <a:solidFill>
                  <a:srgbClr val="8078EE"/>
                </a:solidFill>
              </a:rPr>
              <a:t>Why is this project </a:t>
            </a:r>
            <a:r>
              <a:rPr lang="en-US" sz="1800" dirty="0">
                <a:solidFill>
                  <a:srgbClr val="FF0000"/>
                </a:solidFill>
              </a:rPr>
              <a:t>important</a:t>
            </a:r>
            <a:r>
              <a:rPr lang="en-US" sz="1800" dirty="0">
                <a:solidFill>
                  <a:srgbClr val="8078EE"/>
                </a:solidFill>
              </a:rPr>
              <a:t>?</a:t>
            </a:r>
          </a:p>
          <a:p>
            <a:pPr marL="0" indent="0">
              <a:buNone/>
            </a:pPr>
            <a:endParaRPr lang="en-US" sz="1600" dirty="0"/>
          </a:p>
          <a:p>
            <a:pPr marL="0" indent="0">
              <a:buNone/>
            </a:pPr>
            <a:r>
              <a:rPr lang="en-US" sz="1600" dirty="0"/>
              <a:t>A lot of waste is created everyday. </a:t>
            </a:r>
            <a:r>
              <a:rPr lang="en-US" sz="1600" dirty="0">
                <a:solidFill>
                  <a:srgbClr val="8078EE"/>
                </a:solidFill>
              </a:rPr>
              <a:t>A LOT</a:t>
            </a:r>
            <a:r>
              <a:rPr lang="en-US" sz="1600" dirty="0"/>
              <a:t>. India alone produces 170,338 tons of waste in urban and municipal areas </a:t>
            </a:r>
            <a:r>
              <a:rPr lang="en-US" sz="1600" dirty="0">
                <a:solidFill>
                  <a:srgbClr val="8078EE"/>
                </a:solidFill>
              </a:rPr>
              <a:t>ONLY</a:t>
            </a:r>
            <a:r>
              <a:rPr lang="en-US" sz="1600" dirty="0"/>
              <a:t>. That’s a lot, of which only 20% is being recycled, while 70% </a:t>
            </a:r>
            <a:r>
              <a:rPr lang="en-US" sz="1600" dirty="0">
                <a:solidFill>
                  <a:srgbClr val="8078EE"/>
                </a:solidFill>
              </a:rPr>
              <a:t>CAN</a:t>
            </a:r>
            <a:r>
              <a:rPr lang="en-US" sz="1600" dirty="0"/>
              <a:t> be recycled. We’re here to change that. We present </a:t>
            </a:r>
            <a:r>
              <a:rPr lang="en-US" sz="1600" dirty="0">
                <a:solidFill>
                  <a:srgbClr val="92D050"/>
                </a:solidFill>
              </a:rPr>
              <a:t>SYMBIO</a:t>
            </a:r>
            <a:r>
              <a:rPr lang="en-US" sz="1600" dirty="0"/>
              <a:t>, an application that acts as an aggregator to get the recyclable trash to the places that </a:t>
            </a:r>
            <a:r>
              <a:rPr lang="en-US" sz="1600" dirty="0">
                <a:solidFill>
                  <a:srgbClr val="8078EE"/>
                </a:solidFill>
              </a:rPr>
              <a:t>WILL</a:t>
            </a:r>
            <a:r>
              <a:rPr lang="en-US" sz="1600" dirty="0"/>
              <a:t> recycle it. </a:t>
            </a:r>
          </a:p>
          <a:p>
            <a:pPr marL="0" indent="0">
              <a:buNone/>
            </a:pPr>
            <a:endParaRPr lang="en-US" sz="1600" dirty="0"/>
          </a:p>
          <a:p>
            <a:pPr marL="0" indent="0">
              <a:buNone/>
            </a:pPr>
            <a:r>
              <a:rPr lang="en-US" sz="1600" dirty="0"/>
              <a:t>Waste management is a big issue in our country, and we will not let it stand for much longer</a:t>
            </a:r>
            <a:endParaRPr lang="en-IN" sz="1600" dirty="0"/>
          </a:p>
        </p:txBody>
      </p:sp>
      <p:pic>
        <p:nvPicPr>
          <p:cNvPr id="7" name="Picture 6">
            <a:extLst>
              <a:ext uri="{FF2B5EF4-FFF2-40B4-BE49-F238E27FC236}">
                <a16:creationId xmlns:a16="http://schemas.microsoft.com/office/drawing/2014/main" id="{962B8DBC-EE77-2BCF-4BD5-10E09C3E62B8}"/>
              </a:ext>
            </a:extLst>
          </p:cNvPr>
          <p:cNvPicPr>
            <a:picLocks noChangeAspect="1"/>
          </p:cNvPicPr>
          <p:nvPr/>
        </p:nvPicPr>
        <p:blipFill>
          <a:blip r:embed="rId2">
            <a:extLst>
              <a:ext uri="{28A0092B-C50C-407E-A947-70E740481C1C}">
                <a14:useLocalDpi xmlns:a14="http://schemas.microsoft.com/office/drawing/2010/main" val="0"/>
              </a:ext>
            </a:extLst>
          </a:blip>
          <a:srcRect l="10789" r="11185"/>
          <a:stretch>
            <a:fillRect/>
          </a:stretch>
        </p:blipFill>
        <p:spPr>
          <a:xfrm>
            <a:off x="1225131" y="2380138"/>
            <a:ext cx="1864494" cy="2389587"/>
          </a:xfrm>
          <a:prstGeom prst="rect">
            <a:avLst/>
          </a:prstGeom>
        </p:spPr>
      </p:pic>
    </p:spTree>
    <p:extLst>
      <p:ext uri="{BB962C8B-B14F-4D97-AF65-F5344CB8AC3E}">
        <p14:creationId xmlns:p14="http://schemas.microsoft.com/office/powerpoint/2010/main" val="2060643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6130-A00A-75B7-0A22-A14D30B7E1E4}"/>
              </a:ext>
            </a:extLst>
          </p:cNvPr>
          <p:cNvSpPr>
            <a:spLocks noGrp="1"/>
          </p:cNvSpPr>
          <p:nvPr>
            <p:ph type="title"/>
          </p:nvPr>
        </p:nvSpPr>
        <p:spPr/>
        <p:txBody>
          <a:bodyPr/>
          <a:lstStyle/>
          <a:p>
            <a:r>
              <a:rPr lang="en-US" dirty="0">
                <a:solidFill>
                  <a:srgbClr val="8078EE"/>
                </a:solidFill>
              </a:rPr>
              <a:t>Solution</a:t>
            </a:r>
            <a:endParaRPr lang="en-IN" dirty="0">
              <a:solidFill>
                <a:srgbClr val="8078EE"/>
              </a:solidFill>
            </a:endParaRPr>
          </a:p>
        </p:txBody>
      </p:sp>
      <p:sp>
        <p:nvSpPr>
          <p:cNvPr id="3" name="Content Placeholder 2">
            <a:extLst>
              <a:ext uri="{FF2B5EF4-FFF2-40B4-BE49-F238E27FC236}">
                <a16:creationId xmlns:a16="http://schemas.microsoft.com/office/drawing/2014/main" id="{A4BC2788-12C6-E783-47CA-4644CFDE977E}"/>
              </a:ext>
            </a:extLst>
          </p:cNvPr>
          <p:cNvSpPr>
            <a:spLocks noGrp="1"/>
          </p:cNvSpPr>
          <p:nvPr>
            <p:ph sz="quarter" idx="13"/>
          </p:nvPr>
        </p:nvSpPr>
        <p:spPr/>
        <p:txBody>
          <a:bodyPr/>
          <a:lstStyle/>
          <a:p>
            <a:pPr marL="0" indent="0">
              <a:buNone/>
            </a:pPr>
            <a:r>
              <a:rPr lang="en-US" dirty="0">
                <a:solidFill>
                  <a:srgbClr val="8078EE"/>
                </a:solidFill>
              </a:rPr>
              <a:t>How do we plan on doing this?</a:t>
            </a:r>
          </a:p>
          <a:p>
            <a:pPr marL="0" indent="0">
              <a:buNone/>
            </a:pPr>
            <a:endParaRPr lang="en-US" dirty="0">
              <a:solidFill>
                <a:srgbClr val="8078EE"/>
              </a:solidFill>
            </a:endParaRPr>
          </a:p>
          <a:p>
            <a:pPr marL="0" indent="0">
              <a:buNone/>
            </a:pPr>
            <a:r>
              <a:rPr lang="en-US" dirty="0"/>
              <a:t>When the user uses </a:t>
            </a:r>
            <a:r>
              <a:rPr lang="en-US" dirty="0">
                <a:solidFill>
                  <a:srgbClr val="92D050"/>
                </a:solidFill>
              </a:rPr>
              <a:t>SYMBIO</a:t>
            </a:r>
            <a:r>
              <a:rPr lang="en-US" dirty="0"/>
              <a:t>, we can allow them to input the:</a:t>
            </a:r>
          </a:p>
          <a:p>
            <a:r>
              <a:rPr lang="en-IN" dirty="0"/>
              <a:t>Description of the waste stream</a:t>
            </a:r>
          </a:p>
          <a:p>
            <a:pPr lvl="1"/>
            <a:r>
              <a:rPr lang="en-IN" dirty="0"/>
              <a:t>Quantity</a:t>
            </a:r>
          </a:p>
          <a:p>
            <a:pPr lvl="1"/>
            <a:r>
              <a:rPr lang="en-IN" dirty="0"/>
              <a:t>Location</a:t>
            </a:r>
          </a:p>
          <a:p>
            <a:pPr lvl="1"/>
            <a:r>
              <a:rPr lang="en-IN" dirty="0"/>
              <a:t>Composition</a:t>
            </a:r>
          </a:p>
          <a:p>
            <a:pPr lvl="1"/>
            <a:r>
              <a:rPr lang="en-IN" dirty="0"/>
              <a:t>And a Report (optional)</a:t>
            </a:r>
          </a:p>
          <a:p>
            <a:pPr marL="228600" lvl="1" indent="0">
              <a:buNone/>
            </a:pPr>
            <a:endParaRPr lang="en-IN" dirty="0"/>
          </a:p>
          <a:p>
            <a:pPr marL="228600" lvl="1" indent="0">
              <a:buNone/>
            </a:pPr>
            <a:endParaRPr lang="en-IN" dirty="0"/>
          </a:p>
        </p:txBody>
      </p:sp>
      <p:pic>
        <p:nvPicPr>
          <p:cNvPr id="5" name="Picture 4">
            <a:extLst>
              <a:ext uri="{FF2B5EF4-FFF2-40B4-BE49-F238E27FC236}">
                <a16:creationId xmlns:a16="http://schemas.microsoft.com/office/drawing/2014/main" id="{F0335E48-34A5-3305-CACC-17E37002AF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0221" y="2331986"/>
            <a:ext cx="2194027" cy="2194027"/>
          </a:xfrm>
          <a:prstGeom prst="rect">
            <a:avLst/>
          </a:prstGeom>
        </p:spPr>
      </p:pic>
      <p:sp>
        <p:nvSpPr>
          <p:cNvPr id="6" name="TextBox 5">
            <a:extLst>
              <a:ext uri="{FF2B5EF4-FFF2-40B4-BE49-F238E27FC236}">
                <a16:creationId xmlns:a16="http://schemas.microsoft.com/office/drawing/2014/main" id="{51380A16-C99B-893B-D2BA-A9D82F4EACC2}"/>
              </a:ext>
            </a:extLst>
          </p:cNvPr>
          <p:cNvSpPr txBox="1"/>
          <p:nvPr/>
        </p:nvSpPr>
        <p:spPr>
          <a:xfrm>
            <a:off x="4901019" y="4442379"/>
            <a:ext cx="6080760" cy="738664"/>
          </a:xfrm>
          <a:prstGeom prst="rect">
            <a:avLst/>
          </a:prstGeom>
          <a:noFill/>
        </p:spPr>
        <p:txBody>
          <a:bodyPr wrap="square" rtlCol="0">
            <a:spAutoFit/>
          </a:bodyPr>
          <a:lstStyle/>
          <a:p>
            <a:r>
              <a:rPr lang="en-US" sz="1400" dirty="0"/>
              <a:t>Then, a local AI model categorizes the description into a category of waste. We have a knowledge base, so we’re not just basing everything off of the AI. We also have categories for the level of re-usability. </a:t>
            </a:r>
            <a:endParaRPr lang="en-IN" sz="1400" dirty="0"/>
          </a:p>
        </p:txBody>
      </p:sp>
    </p:spTree>
    <p:extLst>
      <p:ext uri="{BB962C8B-B14F-4D97-AF65-F5344CB8AC3E}">
        <p14:creationId xmlns:p14="http://schemas.microsoft.com/office/powerpoint/2010/main" val="1998882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Rounded Corners 50">
            <a:extLst>
              <a:ext uri="{FF2B5EF4-FFF2-40B4-BE49-F238E27FC236}">
                <a16:creationId xmlns:a16="http://schemas.microsoft.com/office/drawing/2014/main" id="{8208C198-E2FC-4998-CE18-021C6C68D1D3}"/>
              </a:ext>
            </a:extLst>
          </p:cNvPr>
          <p:cNvSpPr/>
          <p:nvPr/>
        </p:nvSpPr>
        <p:spPr>
          <a:xfrm>
            <a:off x="9164141" y="950653"/>
            <a:ext cx="2799010" cy="5748731"/>
          </a:xfrm>
          <a:prstGeom prst="roundRect">
            <a:avLst/>
          </a:prstGeom>
          <a:solidFill>
            <a:schemeClr val="bg1">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Rectangle: Rounded Corners 47">
            <a:extLst>
              <a:ext uri="{FF2B5EF4-FFF2-40B4-BE49-F238E27FC236}">
                <a16:creationId xmlns:a16="http://schemas.microsoft.com/office/drawing/2014/main" id="{FBBBA036-5CBB-3F00-3757-82445744C5EA}"/>
              </a:ext>
            </a:extLst>
          </p:cNvPr>
          <p:cNvSpPr/>
          <p:nvPr/>
        </p:nvSpPr>
        <p:spPr>
          <a:xfrm>
            <a:off x="120846" y="4066461"/>
            <a:ext cx="8841128" cy="2632923"/>
          </a:xfrm>
          <a:prstGeom prst="roundRect">
            <a:avLst/>
          </a:prstGeom>
          <a:solidFill>
            <a:schemeClr val="bg1">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DE49F7FA-5003-206C-08D6-50102E14E7E8}"/>
              </a:ext>
            </a:extLst>
          </p:cNvPr>
          <p:cNvSpPr/>
          <p:nvPr/>
        </p:nvSpPr>
        <p:spPr>
          <a:xfrm>
            <a:off x="120846" y="950653"/>
            <a:ext cx="8809660" cy="2682777"/>
          </a:xfrm>
          <a:prstGeom prst="roundRect">
            <a:avLst/>
          </a:prstGeom>
          <a:solidFill>
            <a:schemeClr val="bg1">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AD47060-8601-C4E8-1E65-C1C17966ECCF}"/>
              </a:ext>
            </a:extLst>
          </p:cNvPr>
          <p:cNvSpPr txBox="1"/>
          <p:nvPr/>
        </p:nvSpPr>
        <p:spPr>
          <a:xfrm>
            <a:off x="4490432" y="0"/>
            <a:ext cx="3211135" cy="646331"/>
          </a:xfrm>
          <a:prstGeom prst="rect">
            <a:avLst/>
          </a:prstGeom>
          <a:noFill/>
        </p:spPr>
        <p:txBody>
          <a:bodyPr wrap="none" rtlCol="0">
            <a:spAutoFit/>
          </a:bodyPr>
          <a:lstStyle/>
          <a:p>
            <a:r>
              <a:rPr lang="en-US" sz="3600" dirty="0">
                <a:solidFill>
                  <a:srgbClr val="8078EE"/>
                </a:solidFill>
              </a:rPr>
              <a:t>TECH STACK</a:t>
            </a:r>
            <a:endParaRPr lang="en-IN" sz="3600" dirty="0">
              <a:solidFill>
                <a:srgbClr val="8078EE"/>
              </a:solidFill>
            </a:endParaRPr>
          </a:p>
        </p:txBody>
      </p:sp>
      <p:sp>
        <p:nvSpPr>
          <p:cNvPr id="9" name="Rectangle: Rounded Corners 8">
            <a:extLst>
              <a:ext uri="{FF2B5EF4-FFF2-40B4-BE49-F238E27FC236}">
                <a16:creationId xmlns:a16="http://schemas.microsoft.com/office/drawing/2014/main" id="{37C68202-D3FD-08E1-D635-CBB431C6674D}"/>
              </a:ext>
            </a:extLst>
          </p:cNvPr>
          <p:cNvSpPr/>
          <p:nvPr/>
        </p:nvSpPr>
        <p:spPr>
          <a:xfrm>
            <a:off x="257804" y="1075528"/>
            <a:ext cx="1921449" cy="2094661"/>
          </a:xfrm>
          <a:prstGeom prst="roundRect">
            <a:avLst/>
          </a:prstGeom>
          <a:noFill/>
          <a:ln w="38100">
            <a:solidFill>
              <a:srgbClr val="B3B3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descr="Next.js Logo Icon | Free Download PNG &amp; SVG | Ultimate Bold">
            <a:extLst>
              <a:ext uri="{FF2B5EF4-FFF2-40B4-BE49-F238E27FC236}">
                <a16:creationId xmlns:a16="http://schemas.microsoft.com/office/drawing/2014/main" id="{D921BF1F-E0F4-259A-70CE-1CFD3E4FB75C}"/>
              </a:ext>
            </a:extLst>
          </p:cNvPr>
          <p:cNvPicPr>
            <a:picLocks noChangeAspect="1"/>
          </p:cNvPicPr>
          <p:nvPr/>
        </p:nvPicPr>
        <p:blipFill>
          <a:blip r:embed="rId2">
            <a:extLst>
              <a:ext uri="{BEBA8EAE-BF5A-486C-A8C5-ECC9F3942E4B}">
                <a14:imgProps xmlns:a14="http://schemas.microsoft.com/office/drawing/2010/main">
                  <a14:imgLayer r:embed="rId3">
                    <a14:imgEffect>
                      <a14:artisticPhotocopy/>
                    </a14:imgEffect>
                  </a14:imgLayer>
                </a14:imgProps>
              </a:ext>
            </a:extLst>
          </a:blip>
          <a:stretch>
            <a:fillRect/>
          </a:stretch>
        </p:blipFill>
        <p:spPr>
          <a:xfrm>
            <a:off x="608258" y="1508560"/>
            <a:ext cx="1221045" cy="1221045"/>
          </a:xfrm>
          <a:prstGeom prst="rect">
            <a:avLst/>
          </a:prstGeom>
        </p:spPr>
      </p:pic>
      <p:sp>
        <p:nvSpPr>
          <p:cNvPr id="11" name="TextBox 10">
            <a:extLst>
              <a:ext uri="{FF2B5EF4-FFF2-40B4-BE49-F238E27FC236}">
                <a16:creationId xmlns:a16="http://schemas.microsoft.com/office/drawing/2014/main" id="{BE6914F3-4B97-1AB2-258B-9DAC99A0D3AF}"/>
              </a:ext>
            </a:extLst>
          </p:cNvPr>
          <p:cNvSpPr txBox="1"/>
          <p:nvPr/>
        </p:nvSpPr>
        <p:spPr>
          <a:xfrm>
            <a:off x="608258" y="2799595"/>
            <a:ext cx="1221045" cy="307777"/>
          </a:xfrm>
          <a:prstGeom prst="rect">
            <a:avLst/>
          </a:prstGeom>
          <a:noFill/>
        </p:spPr>
        <p:txBody>
          <a:bodyPr wrap="square" rtlCol="0">
            <a:spAutoFit/>
          </a:bodyPr>
          <a:lstStyle/>
          <a:p>
            <a:pPr algn="ctr"/>
            <a:r>
              <a:rPr lang="en-US" sz="1400" dirty="0">
                <a:solidFill>
                  <a:srgbClr val="B3B3B3"/>
                </a:solidFill>
              </a:rPr>
              <a:t>Next.JS</a:t>
            </a:r>
            <a:endParaRPr lang="en-IN" sz="1400" dirty="0">
              <a:solidFill>
                <a:srgbClr val="B3B3B3"/>
              </a:solidFill>
            </a:endParaRPr>
          </a:p>
        </p:txBody>
      </p:sp>
      <p:pic>
        <p:nvPicPr>
          <p:cNvPr id="12" name="Picture 11" descr="File:React-icon.svg - Wikimedia Commons">
            <a:extLst>
              <a:ext uri="{FF2B5EF4-FFF2-40B4-BE49-F238E27FC236}">
                <a16:creationId xmlns:a16="http://schemas.microsoft.com/office/drawing/2014/main" id="{73512D79-15C8-758B-5661-099D0C4FF874}"/>
              </a:ext>
            </a:extLst>
          </p:cNvPr>
          <p:cNvPicPr>
            <a:picLocks noChangeAspect="1"/>
          </p:cNvPicPr>
          <p:nvPr/>
        </p:nvPicPr>
        <p:blipFill>
          <a:blip r:embed="rId4"/>
          <a:stretch>
            <a:fillRect/>
          </a:stretch>
        </p:blipFill>
        <p:spPr>
          <a:xfrm>
            <a:off x="2568180" y="1508560"/>
            <a:ext cx="1372202" cy="1221046"/>
          </a:xfrm>
          <a:prstGeom prst="rect">
            <a:avLst/>
          </a:prstGeom>
        </p:spPr>
      </p:pic>
      <p:sp>
        <p:nvSpPr>
          <p:cNvPr id="14" name="Rectangle: Rounded Corners 13">
            <a:extLst>
              <a:ext uri="{FF2B5EF4-FFF2-40B4-BE49-F238E27FC236}">
                <a16:creationId xmlns:a16="http://schemas.microsoft.com/office/drawing/2014/main" id="{3A8D3E29-AB8F-E716-05BA-5E7DB132CC9F}"/>
              </a:ext>
            </a:extLst>
          </p:cNvPr>
          <p:cNvSpPr/>
          <p:nvPr/>
        </p:nvSpPr>
        <p:spPr>
          <a:xfrm>
            <a:off x="2293556" y="1075528"/>
            <a:ext cx="1921449" cy="2094661"/>
          </a:xfrm>
          <a:prstGeom prst="roundRect">
            <a:avLst/>
          </a:prstGeom>
          <a:noFill/>
          <a:ln w="38100">
            <a:solidFill>
              <a:srgbClr val="61D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D1D9794D-D766-3D81-660D-780EAF67368C}"/>
              </a:ext>
            </a:extLst>
          </p:cNvPr>
          <p:cNvSpPr txBox="1"/>
          <p:nvPr/>
        </p:nvSpPr>
        <p:spPr>
          <a:xfrm>
            <a:off x="2643757" y="2799594"/>
            <a:ext cx="1221045" cy="307777"/>
          </a:xfrm>
          <a:prstGeom prst="rect">
            <a:avLst/>
          </a:prstGeom>
          <a:noFill/>
        </p:spPr>
        <p:txBody>
          <a:bodyPr wrap="square" rtlCol="0">
            <a:spAutoFit/>
          </a:bodyPr>
          <a:lstStyle/>
          <a:p>
            <a:pPr algn="ctr"/>
            <a:r>
              <a:rPr lang="en-US" sz="1400" dirty="0">
                <a:solidFill>
                  <a:srgbClr val="61DAFB"/>
                </a:solidFill>
              </a:rPr>
              <a:t>React</a:t>
            </a:r>
            <a:endParaRPr lang="en-IN" sz="1400" dirty="0">
              <a:solidFill>
                <a:srgbClr val="61DAFB"/>
              </a:solidFill>
            </a:endParaRPr>
          </a:p>
        </p:txBody>
      </p:sp>
      <p:pic>
        <p:nvPicPr>
          <p:cNvPr id="17" name="Picture 16" descr="File:Typescript logo 2020.svg - Wikimedia Commons">
            <a:extLst>
              <a:ext uri="{FF2B5EF4-FFF2-40B4-BE49-F238E27FC236}">
                <a16:creationId xmlns:a16="http://schemas.microsoft.com/office/drawing/2014/main" id="{7D7F5DEB-B732-DDFD-8B36-AF78645215AB}"/>
              </a:ext>
            </a:extLst>
          </p:cNvPr>
          <p:cNvPicPr>
            <a:picLocks noChangeAspect="1"/>
          </p:cNvPicPr>
          <p:nvPr/>
        </p:nvPicPr>
        <p:blipFill>
          <a:blip r:embed="rId5"/>
          <a:stretch>
            <a:fillRect/>
          </a:stretch>
        </p:blipFill>
        <p:spPr>
          <a:xfrm>
            <a:off x="4609520" y="1508559"/>
            <a:ext cx="1291034" cy="1291034"/>
          </a:xfrm>
          <a:prstGeom prst="rect">
            <a:avLst/>
          </a:prstGeom>
        </p:spPr>
      </p:pic>
      <p:sp>
        <p:nvSpPr>
          <p:cNvPr id="19" name="Rectangle: Rounded Corners 18">
            <a:extLst>
              <a:ext uri="{FF2B5EF4-FFF2-40B4-BE49-F238E27FC236}">
                <a16:creationId xmlns:a16="http://schemas.microsoft.com/office/drawing/2014/main" id="{1A17A5AF-73D8-42C8-35C5-C9AA3E139A30}"/>
              </a:ext>
            </a:extLst>
          </p:cNvPr>
          <p:cNvSpPr/>
          <p:nvPr/>
        </p:nvSpPr>
        <p:spPr>
          <a:xfrm>
            <a:off x="4329308" y="1075528"/>
            <a:ext cx="1921449" cy="2094661"/>
          </a:xfrm>
          <a:prstGeom prst="roundRect">
            <a:avLst/>
          </a:prstGeom>
          <a:noFill/>
          <a:ln w="38100">
            <a:solidFill>
              <a:srgbClr val="3178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72FBF7AE-A957-9924-7F48-B9D8DDCF98E9}"/>
              </a:ext>
            </a:extLst>
          </p:cNvPr>
          <p:cNvSpPr txBox="1"/>
          <p:nvPr/>
        </p:nvSpPr>
        <p:spPr>
          <a:xfrm>
            <a:off x="4644515" y="2799593"/>
            <a:ext cx="1221045" cy="307777"/>
          </a:xfrm>
          <a:prstGeom prst="rect">
            <a:avLst/>
          </a:prstGeom>
          <a:noFill/>
        </p:spPr>
        <p:txBody>
          <a:bodyPr wrap="square" rtlCol="0">
            <a:spAutoFit/>
          </a:bodyPr>
          <a:lstStyle/>
          <a:p>
            <a:pPr algn="ctr"/>
            <a:r>
              <a:rPr lang="en-US" sz="1400" dirty="0">
                <a:solidFill>
                  <a:srgbClr val="3178C6"/>
                </a:solidFill>
              </a:rPr>
              <a:t>React</a:t>
            </a:r>
            <a:endParaRPr lang="en-IN" sz="1400" dirty="0">
              <a:solidFill>
                <a:srgbClr val="3178C6"/>
              </a:solidFill>
            </a:endParaRPr>
          </a:p>
        </p:txBody>
      </p:sp>
      <p:pic>
        <p:nvPicPr>
          <p:cNvPr id="22" name="Picture 21" descr="File:Tailwind CSS Logo.svg - Wikimedia Commons">
            <a:extLst>
              <a:ext uri="{FF2B5EF4-FFF2-40B4-BE49-F238E27FC236}">
                <a16:creationId xmlns:a16="http://schemas.microsoft.com/office/drawing/2014/main" id="{1C8DE1B5-C7CF-6062-8450-0D09AA08ECC9}"/>
              </a:ext>
            </a:extLst>
          </p:cNvPr>
          <p:cNvPicPr>
            <a:picLocks noChangeAspect="1"/>
          </p:cNvPicPr>
          <p:nvPr/>
        </p:nvPicPr>
        <p:blipFill>
          <a:blip r:embed="rId6"/>
          <a:stretch>
            <a:fillRect/>
          </a:stretch>
        </p:blipFill>
        <p:spPr>
          <a:xfrm>
            <a:off x="6467914" y="1508558"/>
            <a:ext cx="2110502" cy="1291034"/>
          </a:xfrm>
          <a:prstGeom prst="rect">
            <a:avLst/>
          </a:prstGeom>
        </p:spPr>
      </p:pic>
      <p:sp>
        <p:nvSpPr>
          <p:cNvPr id="24" name="Rectangle: Rounded Corners 23">
            <a:extLst>
              <a:ext uri="{FF2B5EF4-FFF2-40B4-BE49-F238E27FC236}">
                <a16:creationId xmlns:a16="http://schemas.microsoft.com/office/drawing/2014/main" id="{134E3786-2C2E-1761-9406-5C793A0708FA}"/>
              </a:ext>
            </a:extLst>
          </p:cNvPr>
          <p:cNvSpPr/>
          <p:nvPr/>
        </p:nvSpPr>
        <p:spPr>
          <a:xfrm>
            <a:off x="6365060" y="1106745"/>
            <a:ext cx="2316211" cy="2094661"/>
          </a:xfrm>
          <a:prstGeom prst="roundRect">
            <a:avLst/>
          </a:prstGeom>
          <a:noFill/>
          <a:ln w="381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87345775-1BBA-7C17-6ADE-F3477781B68A}"/>
              </a:ext>
            </a:extLst>
          </p:cNvPr>
          <p:cNvSpPr txBox="1"/>
          <p:nvPr/>
        </p:nvSpPr>
        <p:spPr>
          <a:xfrm>
            <a:off x="6859224" y="2799592"/>
            <a:ext cx="1327881" cy="307777"/>
          </a:xfrm>
          <a:prstGeom prst="rect">
            <a:avLst/>
          </a:prstGeom>
          <a:noFill/>
        </p:spPr>
        <p:txBody>
          <a:bodyPr wrap="square" rtlCol="0">
            <a:spAutoFit/>
          </a:bodyPr>
          <a:lstStyle/>
          <a:p>
            <a:pPr algn="ctr"/>
            <a:r>
              <a:rPr lang="en-US" sz="1400" dirty="0">
                <a:solidFill>
                  <a:srgbClr val="38BDF8"/>
                </a:solidFill>
              </a:rPr>
              <a:t>Tailwind CSS</a:t>
            </a:r>
            <a:endParaRPr lang="en-IN" sz="1400" dirty="0">
              <a:solidFill>
                <a:srgbClr val="38BDF8"/>
              </a:solidFill>
            </a:endParaRPr>
          </a:p>
        </p:txBody>
      </p:sp>
      <p:sp>
        <p:nvSpPr>
          <p:cNvPr id="29" name="TextBox 28">
            <a:extLst>
              <a:ext uri="{FF2B5EF4-FFF2-40B4-BE49-F238E27FC236}">
                <a16:creationId xmlns:a16="http://schemas.microsoft.com/office/drawing/2014/main" id="{BD6FE4BD-07BD-132D-812B-BA0CAAFD47C6}"/>
              </a:ext>
            </a:extLst>
          </p:cNvPr>
          <p:cNvSpPr txBox="1"/>
          <p:nvPr/>
        </p:nvSpPr>
        <p:spPr>
          <a:xfrm>
            <a:off x="3915153" y="3320622"/>
            <a:ext cx="1221045" cy="307777"/>
          </a:xfrm>
          <a:prstGeom prst="rect">
            <a:avLst/>
          </a:prstGeom>
          <a:noFill/>
        </p:spPr>
        <p:txBody>
          <a:bodyPr wrap="square" rtlCol="0">
            <a:spAutoFit/>
          </a:bodyPr>
          <a:lstStyle/>
          <a:p>
            <a:pPr algn="ctr"/>
            <a:r>
              <a:rPr lang="en-US" sz="1400" dirty="0">
                <a:solidFill>
                  <a:srgbClr val="8078EE"/>
                </a:solidFill>
              </a:rPr>
              <a:t>Frontend</a:t>
            </a:r>
            <a:endParaRPr lang="en-IN" sz="1400" dirty="0">
              <a:solidFill>
                <a:srgbClr val="8078EE"/>
              </a:solidFill>
            </a:endParaRPr>
          </a:p>
        </p:txBody>
      </p:sp>
      <p:pic>
        <p:nvPicPr>
          <p:cNvPr id="30" name="Picture 29" descr="File:Python-logo-notext.svg - Wikimedia Commons">
            <a:extLst>
              <a:ext uri="{FF2B5EF4-FFF2-40B4-BE49-F238E27FC236}">
                <a16:creationId xmlns:a16="http://schemas.microsoft.com/office/drawing/2014/main" id="{B431B50F-C26C-4ABA-1E48-76AEFC94044F}"/>
              </a:ext>
            </a:extLst>
          </p:cNvPr>
          <p:cNvPicPr>
            <a:picLocks noChangeAspect="1"/>
          </p:cNvPicPr>
          <p:nvPr/>
        </p:nvPicPr>
        <p:blipFill>
          <a:blip r:embed="rId7"/>
          <a:stretch>
            <a:fillRect/>
          </a:stretch>
        </p:blipFill>
        <p:spPr>
          <a:xfrm>
            <a:off x="679502" y="4844284"/>
            <a:ext cx="1023785" cy="1023785"/>
          </a:xfrm>
          <a:prstGeom prst="rect">
            <a:avLst/>
          </a:prstGeom>
        </p:spPr>
      </p:pic>
      <p:sp>
        <p:nvSpPr>
          <p:cNvPr id="32" name="Rectangle: Rounded Corners 31">
            <a:extLst>
              <a:ext uri="{FF2B5EF4-FFF2-40B4-BE49-F238E27FC236}">
                <a16:creationId xmlns:a16="http://schemas.microsoft.com/office/drawing/2014/main" id="{8399E571-819A-1D11-2273-4687B8485D7D}"/>
              </a:ext>
            </a:extLst>
          </p:cNvPr>
          <p:cNvSpPr/>
          <p:nvPr/>
        </p:nvSpPr>
        <p:spPr>
          <a:xfrm>
            <a:off x="228849" y="4349594"/>
            <a:ext cx="1928312" cy="2055736"/>
          </a:xfrm>
          <a:prstGeom prst="roundRect">
            <a:avLst/>
          </a:prstGeom>
          <a:noFill/>
          <a:ln w="38100">
            <a:solidFill>
              <a:srgbClr val="366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9817155C-2483-E59D-48FB-5600ACCB51C4}"/>
              </a:ext>
            </a:extLst>
          </p:cNvPr>
          <p:cNvSpPr txBox="1"/>
          <p:nvPr/>
        </p:nvSpPr>
        <p:spPr>
          <a:xfrm>
            <a:off x="579049" y="5988530"/>
            <a:ext cx="1225407" cy="307777"/>
          </a:xfrm>
          <a:prstGeom prst="rect">
            <a:avLst/>
          </a:prstGeom>
          <a:noFill/>
        </p:spPr>
        <p:txBody>
          <a:bodyPr wrap="square" rtlCol="0">
            <a:spAutoFit/>
          </a:bodyPr>
          <a:lstStyle/>
          <a:p>
            <a:pPr algn="ctr"/>
            <a:r>
              <a:rPr lang="en-US" sz="1400" dirty="0">
                <a:solidFill>
                  <a:srgbClr val="366E9A"/>
                </a:solidFill>
              </a:rPr>
              <a:t>Pyt</a:t>
            </a:r>
            <a:r>
              <a:rPr lang="en-US" sz="1400" dirty="0">
                <a:solidFill>
                  <a:srgbClr val="FFD23F"/>
                </a:solidFill>
              </a:rPr>
              <a:t>hon</a:t>
            </a:r>
            <a:endParaRPr lang="en-IN" sz="1400" dirty="0">
              <a:solidFill>
                <a:srgbClr val="FFD23F"/>
              </a:solidFill>
            </a:endParaRPr>
          </a:p>
        </p:txBody>
      </p:sp>
      <p:pic>
        <p:nvPicPr>
          <p:cNvPr id="35" name="Picture 34" descr="Fastapi Icon Icon | Free Download PNG &amp; SVG | SVG Logos">
            <a:extLst>
              <a:ext uri="{FF2B5EF4-FFF2-40B4-BE49-F238E27FC236}">
                <a16:creationId xmlns:a16="http://schemas.microsoft.com/office/drawing/2014/main" id="{8323DDD2-BD6A-DE70-7AC2-F3510CFC0718}"/>
              </a:ext>
            </a:extLst>
          </p:cNvPr>
          <p:cNvPicPr>
            <a:picLocks noChangeAspect="1"/>
          </p:cNvPicPr>
          <p:nvPr/>
        </p:nvPicPr>
        <p:blipFill>
          <a:blip r:embed="rId8"/>
          <a:stretch>
            <a:fillRect/>
          </a:stretch>
        </p:blipFill>
        <p:spPr>
          <a:xfrm>
            <a:off x="2997509" y="4843872"/>
            <a:ext cx="1138937" cy="1138937"/>
          </a:xfrm>
          <a:prstGeom prst="rect">
            <a:avLst/>
          </a:prstGeom>
        </p:spPr>
      </p:pic>
      <p:sp>
        <p:nvSpPr>
          <p:cNvPr id="37" name="Rectangle: Rounded Corners 36">
            <a:extLst>
              <a:ext uri="{FF2B5EF4-FFF2-40B4-BE49-F238E27FC236}">
                <a16:creationId xmlns:a16="http://schemas.microsoft.com/office/drawing/2014/main" id="{9097782D-EE5D-CE7D-3BC5-48EEFB1E7994}"/>
              </a:ext>
            </a:extLst>
          </p:cNvPr>
          <p:cNvSpPr/>
          <p:nvPr/>
        </p:nvSpPr>
        <p:spPr>
          <a:xfrm>
            <a:off x="4875880" y="4349592"/>
            <a:ext cx="1928312" cy="2055736"/>
          </a:xfrm>
          <a:prstGeom prst="roundRect">
            <a:avLst/>
          </a:prstGeom>
          <a:noFill/>
          <a:ln w="38100">
            <a:solidFill>
              <a:srgbClr val="E620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2775A4D3-0F43-A20B-F817-C7B0C8FB6624}"/>
              </a:ext>
            </a:extLst>
          </p:cNvPr>
          <p:cNvSpPr txBox="1"/>
          <p:nvPr/>
        </p:nvSpPr>
        <p:spPr>
          <a:xfrm>
            <a:off x="2954427" y="5988529"/>
            <a:ext cx="1225407" cy="307777"/>
          </a:xfrm>
          <a:prstGeom prst="rect">
            <a:avLst/>
          </a:prstGeom>
          <a:noFill/>
        </p:spPr>
        <p:txBody>
          <a:bodyPr wrap="square" rtlCol="0">
            <a:spAutoFit/>
          </a:bodyPr>
          <a:lstStyle/>
          <a:p>
            <a:pPr algn="ctr"/>
            <a:r>
              <a:rPr lang="en-US" sz="1400" dirty="0">
                <a:solidFill>
                  <a:srgbClr val="009688"/>
                </a:solidFill>
              </a:rPr>
              <a:t>Fast API</a:t>
            </a:r>
            <a:endParaRPr lang="en-IN" sz="1400" dirty="0">
              <a:solidFill>
                <a:srgbClr val="009688"/>
              </a:solidFill>
            </a:endParaRPr>
          </a:p>
        </p:txBody>
      </p:sp>
      <p:pic>
        <p:nvPicPr>
          <p:cNvPr id="40" name="Picture 39" descr="Pydantic · GitHub">
            <a:extLst>
              <a:ext uri="{FF2B5EF4-FFF2-40B4-BE49-F238E27FC236}">
                <a16:creationId xmlns:a16="http://schemas.microsoft.com/office/drawing/2014/main" id="{EC15892F-9DFB-6673-C0D6-DF368F0EC2DF}"/>
              </a:ext>
            </a:extLst>
          </p:cNvPr>
          <p:cNvPicPr>
            <a:picLocks noChangeAspect="1"/>
          </p:cNvPicPr>
          <p:nvPr/>
        </p:nvPicPr>
        <p:blipFill>
          <a:blip r:embed="rId9"/>
          <a:stretch>
            <a:fillRect/>
          </a:stretch>
        </p:blipFill>
        <p:spPr>
          <a:xfrm>
            <a:off x="5269162" y="4786501"/>
            <a:ext cx="1138937" cy="1138937"/>
          </a:xfrm>
          <a:prstGeom prst="rect">
            <a:avLst/>
          </a:prstGeom>
        </p:spPr>
      </p:pic>
      <p:sp>
        <p:nvSpPr>
          <p:cNvPr id="41" name="TextBox 40">
            <a:extLst>
              <a:ext uri="{FF2B5EF4-FFF2-40B4-BE49-F238E27FC236}">
                <a16:creationId xmlns:a16="http://schemas.microsoft.com/office/drawing/2014/main" id="{8CD0DD4F-29EA-0DEA-221D-60ABB8E4C96A}"/>
              </a:ext>
            </a:extLst>
          </p:cNvPr>
          <p:cNvSpPr txBox="1"/>
          <p:nvPr/>
        </p:nvSpPr>
        <p:spPr>
          <a:xfrm>
            <a:off x="5380483" y="5988529"/>
            <a:ext cx="915498" cy="307777"/>
          </a:xfrm>
          <a:prstGeom prst="rect">
            <a:avLst/>
          </a:prstGeom>
          <a:noFill/>
        </p:spPr>
        <p:txBody>
          <a:bodyPr wrap="square" rtlCol="0">
            <a:spAutoFit/>
          </a:bodyPr>
          <a:lstStyle/>
          <a:p>
            <a:pPr algn="ctr"/>
            <a:r>
              <a:rPr lang="en-US" sz="1400" dirty="0" err="1">
                <a:solidFill>
                  <a:srgbClr val="E620E9"/>
                </a:solidFill>
              </a:rPr>
              <a:t>Pydantic</a:t>
            </a:r>
            <a:endParaRPr lang="en-IN" sz="1400" dirty="0">
              <a:solidFill>
                <a:srgbClr val="E620E9"/>
              </a:solidFill>
            </a:endParaRPr>
          </a:p>
        </p:txBody>
      </p:sp>
      <p:sp>
        <p:nvSpPr>
          <p:cNvPr id="42" name="Rectangle: Rounded Corners 41">
            <a:extLst>
              <a:ext uri="{FF2B5EF4-FFF2-40B4-BE49-F238E27FC236}">
                <a16:creationId xmlns:a16="http://schemas.microsoft.com/office/drawing/2014/main" id="{FBFFC7C0-C664-E2B9-0ABA-CFC516BF78B7}"/>
              </a:ext>
            </a:extLst>
          </p:cNvPr>
          <p:cNvSpPr/>
          <p:nvPr/>
        </p:nvSpPr>
        <p:spPr>
          <a:xfrm>
            <a:off x="2604227" y="4349592"/>
            <a:ext cx="1928312" cy="2055736"/>
          </a:xfrm>
          <a:prstGeom prst="roundRect">
            <a:avLst/>
          </a:prstGeom>
          <a:noFill/>
          <a:ln w="38100">
            <a:solidFill>
              <a:srgbClr val="0096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3" name="Picture 42" descr="uvicorn · PyPI">
            <a:extLst>
              <a:ext uri="{FF2B5EF4-FFF2-40B4-BE49-F238E27FC236}">
                <a16:creationId xmlns:a16="http://schemas.microsoft.com/office/drawing/2014/main" id="{4F7A978A-9F67-68D7-6C78-C2912B648E3E}"/>
              </a:ext>
            </a:extLst>
          </p:cNvPr>
          <p:cNvPicPr>
            <a:picLocks noChangeAspect="1"/>
          </p:cNvPicPr>
          <p:nvPr/>
        </p:nvPicPr>
        <p:blipFill>
          <a:blip r:embed="rId10"/>
          <a:stretch>
            <a:fillRect/>
          </a:stretch>
        </p:blipFill>
        <p:spPr>
          <a:xfrm>
            <a:off x="7297835" y="4786501"/>
            <a:ext cx="1138937" cy="1138937"/>
          </a:xfrm>
          <a:prstGeom prst="rect">
            <a:avLst/>
          </a:prstGeom>
        </p:spPr>
      </p:pic>
      <p:sp>
        <p:nvSpPr>
          <p:cNvPr id="44" name="Rectangle: Rounded Corners 43">
            <a:extLst>
              <a:ext uri="{FF2B5EF4-FFF2-40B4-BE49-F238E27FC236}">
                <a16:creationId xmlns:a16="http://schemas.microsoft.com/office/drawing/2014/main" id="{C0B93868-48C9-7F20-6AB0-B4E12FED40A9}"/>
              </a:ext>
            </a:extLst>
          </p:cNvPr>
          <p:cNvSpPr/>
          <p:nvPr/>
        </p:nvSpPr>
        <p:spPr>
          <a:xfrm>
            <a:off x="6908648" y="4349592"/>
            <a:ext cx="1928312" cy="2055736"/>
          </a:xfrm>
          <a:prstGeom prst="roundRect">
            <a:avLst/>
          </a:prstGeom>
          <a:noFill/>
          <a:ln w="38100">
            <a:solidFill>
              <a:srgbClr val="A523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extBox 45">
            <a:extLst>
              <a:ext uri="{FF2B5EF4-FFF2-40B4-BE49-F238E27FC236}">
                <a16:creationId xmlns:a16="http://schemas.microsoft.com/office/drawing/2014/main" id="{72A541B7-A3AE-5C5A-8A30-AA196990F0FD}"/>
              </a:ext>
            </a:extLst>
          </p:cNvPr>
          <p:cNvSpPr txBox="1"/>
          <p:nvPr/>
        </p:nvSpPr>
        <p:spPr>
          <a:xfrm>
            <a:off x="7409156" y="6017213"/>
            <a:ext cx="915498" cy="307777"/>
          </a:xfrm>
          <a:prstGeom prst="rect">
            <a:avLst/>
          </a:prstGeom>
          <a:noFill/>
        </p:spPr>
        <p:txBody>
          <a:bodyPr wrap="square" rtlCol="0">
            <a:spAutoFit/>
          </a:bodyPr>
          <a:lstStyle/>
          <a:p>
            <a:pPr algn="ctr"/>
            <a:r>
              <a:rPr lang="en-US" sz="1400" dirty="0" err="1">
                <a:solidFill>
                  <a:srgbClr val="A52371"/>
                </a:solidFill>
              </a:rPr>
              <a:t>Uvicorn</a:t>
            </a:r>
            <a:endParaRPr lang="en-IN" sz="1400" dirty="0">
              <a:solidFill>
                <a:srgbClr val="A52371"/>
              </a:solidFill>
            </a:endParaRPr>
          </a:p>
        </p:txBody>
      </p:sp>
      <p:sp>
        <p:nvSpPr>
          <p:cNvPr id="50" name="TextBox 49">
            <a:extLst>
              <a:ext uri="{FF2B5EF4-FFF2-40B4-BE49-F238E27FC236}">
                <a16:creationId xmlns:a16="http://schemas.microsoft.com/office/drawing/2014/main" id="{8DCDF3DD-DC4B-2A7A-92DA-398571EA408F}"/>
              </a:ext>
            </a:extLst>
          </p:cNvPr>
          <p:cNvSpPr txBox="1"/>
          <p:nvPr/>
        </p:nvSpPr>
        <p:spPr>
          <a:xfrm>
            <a:off x="9950939" y="6411047"/>
            <a:ext cx="1225407" cy="307777"/>
          </a:xfrm>
          <a:prstGeom prst="rect">
            <a:avLst/>
          </a:prstGeom>
          <a:noFill/>
        </p:spPr>
        <p:txBody>
          <a:bodyPr wrap="square" rtlCol="0">
            <a:spAutoFit/>
          </a:bodyPr>
          <a:lstStyle/>
          <a:p>
            <a:pPr algn="ctr"/>
            <a:r>
              <a:rPr lang="en-US" sz="1400" dirty="0">
                <a:solidFill>
                  <a:srgbClr val="8078EE"/>
                </a:solidFill>
              </a:rPr>
              <a:t>AI</a:t>
            </a:r>
            <a:endParaRPr lang="en-IN" sz="1400" dirty="0">
              <a:solidFill>
                <a:srgbClr val="8078EE"/>
              </a:solidFill>
            </a:endParaRPr>
          </a:p>
        </p:txBody>
      </p:sp>
      <p:grpSp>
        <p:nvGrpSpPr>
          <p:cNvPr id="62" name="Group 61">
            <a:extLst>
              <a:ext uri="{FF2B5EF4-FFF2-40B4-BE49-F238E27FC236}">
                <a16:creationId xmlns:a16="http://schemas.microsoft.com/office/drawing/2014/main" id="{F580B547-D171-D74A-F3CA-4979985AA559}"/>
              </a:ext>
            </a:extLst>
          </p:cNvPr>
          <p:cNvGrpSpPr/>
          <p:nvPr/>
        </p:nvGrpSpPr>
        <p:grpSpPr>
          <a:xfrm>
            <a:off x="9443092" y="4230329"/>
            <a:ext cx="2316211" cy="2094661"/>
            <a:chOff x="9405540" y="1244710"/>
            <a:chExt cx="2316211" cy="2094661"/>
          </a:xfrm>
        </p:grpSpPr>
        <p:pic>
          <p:nvPicPr>
            <p:cNvPr id="52" name="Picture 51" descr="Ollama Icon &amp; Logo | Dashboard Icons &amp; Logos">
              <a:extLst>
                <a:ext uri="{FF2B5EF4-FFF2-40B4-BE49-F238E27FC236}">
                  <a16:creationId xmlns:a16="http://schemas.microsoft.com/office/drawing/2014/main" id="{38553FEF-E1FE-1A01-547D-00D9618F5745}"/>
                </a:ext>
              </a:extLst>
            </p:cNvPr>
            <p:cNvPicPr>
              <a:picLocks noChangeAspect="1"/>
            </p:cNvPicPr>
            <p:nvPr/>
          </p:nvPicPr>
          <p:blipFill>
            <a:blip r:embed="rId11"/>
            <a:stretch>
              <a:fillRect/>
            </a:stretch>
          </p:blipFill>
          <p:spPr>
            <a:xfrm>
              <a:off x="10055245" y="1613796"/>
              <a:ext cx="1025316" cy="1356490"/>
            </a:xfrm>
            <a:prstGeom prst="rect">
              <a:avLst/>
            </a:prstGeom>
          </p:spPr>
        </p:pic>
        <p:sp>
          <p:nvSpPr>
            <p:cNvPr id="55" name="Rectangle: Rounded Corners 54">
              <a:extLst>
                <a:ext uri="{FF2B5EF4-FFF2-40B4-BE49-F238E27FC236}">
                  <a16:creationId xmlns:a16="http://schemas.microsoft.com/office/drawing/2014/main" id="{1099E902-AE6D-002D-5E87-7C37D4B36849}"/>
                </a:ext>
              </a:extLst>
            </p:cNvPr>
            <p:cNvSpPr/>
            <p:nvPr/>
          </p:nvSpPr>
          <p:spPr>
            <a:xfrm>
              <a:off x="9405540" y="1244710"/>
              <a:ext cx="2316211" cy="2094661"/>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TextBox 56">
              <a:extLst>
                <a:ext uri="{FF2B5EF4-FFF2-40B4-BE49-F238E27FC236}">
                  <a16:creationId xmlns:a16="http://schemas.microsoft.com/office/drawing/2014/main" id="{F303D398-1D03-9AF9-717A-322EEB92F6E5}"/>
                </a:ext>
              </a:extLst>
            </p:cNvPr>
            <p:cNvSpPr txBox="1"/>
            <p:nvPr/>
          </p:nvSpPr>
          <p:spPr>
            <a:xfrm>
              <a:off x="9899704" y="3000940"/>
              <a:ext cx="1327881" cy="307777"/>
            </a:xfrm>
            <a:prstGeom prst="rect">
              <a:avLst/>
            </a:prstGeom>
            <a:noFill/>
          </p:spPr>
          <p:txBody>
            <a:bodyPr wrap="square" rtlCol="0">
              <a:spAutoFit/>
            </a:bodyPr>
            <a:lstStyle/>
            <a:p>
              <a:pPr algn="ctr"/>
              <a:r>
                <a:rPr lang="en-US" sz="1400" dirty="0" err="1"/>
                <a:t>Ollama</a:t>
              </a:r>
              <a:endParaRPr lang="en-IN" sz="1400" dirty="0"/>
            </a:p>
          </p:txBody>
        </p:sp>
      </p:grpSp>
      <p:grpSp>
        <p:nvGrpSpPr>
          <p:cNvPr id="61" name="Group 60">
            <a:extLst>
              <a:ext uri="{FF2B5EF4-FFF2-40B4-BE49-F238E27FC236}">
                <a16:creationId xmlns:a16="http://schemas.microsoft.com/office/drawing/2014/main" id="{9EA64B6C-73CB-87A1-5DAD-9F8CA64E12FF}"/>
              </a:ext>
            </a:extLst>
          </p:cNvPr>
          <p:cNvGrpSpPr/>
          <p:nvPr/>
        </p:nvGrpSpPr>
        <p:grpSpPr>
          <a:xfrm>
            <a:off x="9443095" y="1225961"/>
            <a:ext cx="2316211" cy="2094661"/>
            <a:chOff x="9405540" y="4308638"/>
            <a:chExt cx="2316211" cy="2094661"/>
          </a:xfrm>
        </p:grpSpPr>
        <p:pic>
          <p:nvPicPr>
            <p:cNvPr id="58" name="Picture 57" descr="Qwen">
              <a:extLst>
                <a:ext uri="{FF2B5EF4-FFF2-40B4-BE49-F238E27FC236}">
                  <a16:creationId xmlns:a16="http://schemas.microsoft.com/office/drawing/2014/main" id="{506698E6-39F2-6B02-5D46-73932442E551}"/>
                </a:ext>
              </a:extLst>
            </p:cNvPr>
            <p:cNvPicPr>
              <a:picLocks noChangeAspect="1"/>
            </p:cNvPicPr>
            <p:nvPr/>
          </p:nvPicPr>
          <p:blipFill>
            <a:blip r:embed="rId12"/>
            <a:stretch>
              <a:fillRect/>
            </a:stretch>
          </p:blipFill>
          <p:spPr>
            <a:xfrm>
              <a:off x="9938789" y="4779363"/>
              <a:ext cx="1249709" cy="1237850"/>
            </a:xfrm>
            <a:prstGeom prst="rect">
              <a:avLst/>
            </a:prstGeom>
          </p:spPr>
        </p:pic>
        <p:sp>
          <p:nvSpPr>
            <p:cNvPr id="59" name="Rectangle: Rounded Corners 58">
              <a:extLst>
                <a:ext uri="{FF2B5EF4-FFF2-40B4-BE49-F238E27FC236}">
                  <a16:creationId xmlns:a16="http://schemas.microsoft.com/office/drawing/2014/main" id="{41CBD59C-41C8-0D53-2FA1-04773EC19D47}"/>
                </a:ext>
              </a:extLst>
            </p:cNvPr>
            <p:cNvSpPr/>
            <p:nvPr/>
          </p:nvSpPr>
          <p:spPr>
            <a:xfrm>
              <a:off x="9405540" y="4308638"/>
              <a:ext cx="2316211" cy="2094661"/>
            </a:xfrm>
            <a:prstGeom prst="roundRect">
              <a:avLst/>
            </a:prstGeom>
            <a:noFill/>
            <a:ln w="38100">
              <a:solidFill>
                <a:srgbClr val="7564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TextBox 59">
              <a:extLst>
                <a:ext uri="{FF2B5EF4-FFF2-40B4-BE49-F238E27FC236}">
                  <a16:creationId xmlns:a16="http://schemas.microsoft.com/office/drawing/2014/main" id="{4DC8B89B-6DD3-60BD-2C8A-A158582557ED}"/>
                </a:ext>
              </a:extLst>
            </p:cNvPr>
            <p:cNvSpPr txBox="1"/>
            <p:nvPr/>
          </p:nvSpPr>
          <p:spPr>
            <a:xfrm>
              <a:off x="9899704" y="6056367"/>
              <a:ext cx="1327881" cy="307777"/>
            </a:xfrm>
            <a:prstGeom prst="rect">
              <a:avLst/>
            </a:prstGeom>
            <a:noFill/>
          </p:spPr>
          <p:txBody>
            <a:bodyPr wrap="square" rtlCol="0">
              <a:spAutoFit/>
            </a:bodyPr>
            <a:lstStyle/>
            <a:p>
              <a:pPr algn="ctr"/>
              <a:r>
                <a:rPr lang="en-US" sz="1400" dirty="0">
                  <a:solidFill>
                    <a:srgbClr val="7564F5"/>
                  </a:solidFill>
                </a:rPr>
                <a:t>Qwen 3.5</a:t>
              </a:r>
              <a:endParaRPr lang="en-IN" sz="1400" dirty="0">
                <a:solidFill>
                  <a:srgbClr val="7564F5"/>
                </a:solidFill>
              </a:endParaRPr>
            </a:p>
          </p:txBody>
        </p:sp>
      </p:grpSp>
      <p:sp>
        <p:nvSpPr>
          <p:cNvPr id="64" name="TextBox 63">
            <a:extLst>
              <a:ext uri="{FF2B5EF4-FFF2-40B4-BE49-F238E27FC236}">
                <a16:creationId xmlns:a16="http://schemas.microsoft.com/office/drawing/2014/main" id="{80791DD0-EDA6-ECE6-59B8-AECACB683D99}"/>
              </a:ext>
            </a:extLst>
          </p:cNvPr>
          <p:cNvSpPr txBox="1"/>
          <p:nvPr/>
        </p:nvSpPr>
        <p:spPr>
          <a:xfrm>
            <a:off x="3996816" y="6411047"/>
            <a:ext cx="1225407" cy="307777"/>
          </a:xfrm>
          <a:prstGeom prst="rect">
            <a:avLst/>
          </a:prstGeom>
          <a:noFill/>
        </p:spPr>
        <p:txBody>
          <a:bodyPr wrap="square" rtlCol="0">
            <a:spAutoFit/>
          </a:bodyPr>
          <a:lstStyle/>
          <a:p>
            <a:pPr algn="ctr"/>
            <a:r>
              <a:rPr lang="en-US" sz="1400" dirty="0">
                <a:solidFill>
                  <a:srgbClr val="8078EE"/>
                </a:solidFill>
              </a:rPr>
              <a:t>Backend</a:t>
            </a:r>
            <a:endParaRPr lang="en-IN" sz="1400" dirty="0">
              <a:solidFill>
                <a:srgbClr val="8078EE"/>
              </a:solidFill>
            </a:endParaRPr>
          </a:p>
        </p:txBody>
      </p:sp>
    </p:spTree>
    <p:extLst>
      <p:ext uri="{BB962C8B-B14F-4D97-AF65-F5344CB8AC3E}">
        <p14:creationId xmlns:p14="http://schemas.microsoft.com/office/powerpoint/2010/main" val="4202000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2C4AA-007F-BBCC-E041-B0DF90A6548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476433B-B32D-AA2E-4F39-9E62388AF617}"/>
              </a:ext>
            </a:extLst>
          </p:cNvPr>
          <p:cNvSpPr>
            <a:spLocks noGrp="1"/>
          </p:cNvSpPr>
          <p:nvPr>
            <p:ph sz="quarter" idx="13"/>
          </p:nvPr>
        </p:nvSpPr>
        <p:spPr/>
        <p:txBody>
          <a:bodyPr>
            <a:normAutofit/>
          </a:bodyPr>
          <a:lstStyle/>
          <a:p>
            <a:pPr marL="0" indent="0">
              <a:buNone/>
            </a:pPr>
            <a:endParaRPr lang="en-US" sz="1600" dirty="0"/>
          </a:p>
          <a:p>
            <a:pPr marL="0" indent="0">
              <a:buNone/>
            </a:pPr>
            <a:endParaRPr lang="en-IN" sz="1600" dirty="0"/>
          </a:p>
        </p:txBody>
      </p:sp>
      <p:sp>
        <p:nvSpPr>
          <p:cNvPr id="2" name="Rectangle: Rounded Corners 1">
            <a:extLst>
              <a:ext uri="{FF2B5EF4-FFF2-40B4-BE49-F238E27FC236}">
                <a16:creationId xmlns:a16="http://schemas.microsoft.com/office/drawing/2014/main" id="{8B327901-0AA6-06B8-DB5F-9FA236B0738A}"/>
              </a:ext>
            </a:extLst>
          </p:cNvPr>
          <p:cNvSpPr/>
          <p:nvPr/>
        </p:nvSpPr>
        <p:spPr>
          <a:xfrm>
            <a:off x="227416" y="1850833"/>
            <a:ext cx="1986974" cy="4362679"/>
          </a:xfrm>
          <a:prstGeom prst="roundRect">
            <a:avLst/>
          </a:prstGeom>
          <a:solidFill>
            <a:srgbClr val="3C2F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Rounded Corners 9">
            <a:extLst>
              <a:ext uri="{FF2B5EF4-FFF2-40B4-BE49-F238E27FC236}">
                <a16:creationId xmlns:a16="http://schemas.microsoft.com/office/drawing/2014/main" id="{CFFE669C-B467-C5C8-9360-DD0466D0C34E}"/>
              </a:ext>
            </a:extLst>
          </p:cNvPr>
          <p:cNvSpPr/>
          <p:nvPr/>
        </p:nvSpPr>
        <p:spPr>
          <a:xfrm>
            <a:off x="2713290" y="1850833"/>
            <a:ext cx="1986974" cy="4362679"/>
          </a:xfrm>
          <a:prstGeom prst="roundRect">
            <a:avLst/>
          </a:prstGeom>
          <a:solidFill>
            <a:srgbClr val="5F54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Our</a:t>
            </a:r>
            <a:r>
              <a:rPr lang="en-US" b="1" dirty="0"/>
              <a:t> AI</a:t>
            </a:r>
            <a:r>
              <a:rPr lang="en-US" dirty="0"/>
              <a:t> identifies the material and understands its possible uses.</a:t>
            </a:r>
          </a:p>
        </p:txBody>
      </p:sp>
      <p:sp>
        <p:nvSpPr>
          <p:cNvPr id="11" name="Rectangle: Rounded Corners 10">
            <a:extLst>
              <a:ext uri="{FF2B5EF4-FFF2-40B4-BE49-F238E27FC236}">
                <a16:creationId xmlns:a16="http://schemas.microsoft.com/office/drawing/2014/main" id="{4F45A5CF-354A-CD81-959C-A5678C2C8E52}"/>
              </a:ext>
            </a:extLst>
          </p:cNvPr>
          <p:cNvSpPr/>
          <p:nvPr/>
        </p:nvSpPr>
        <p:spPr>
          <a:xfrm>
            <a:off x="5199164" y="1850833"/>
            <a:ext cx="1986974" cy="4362679"/>
          </a:xfrm>
          <a:prstGeom prst="roundRect">
            <a:avLst/>
          </a:prstGeom>
          <a:solidFill>
            <a:srgbClr val="8078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Our</a:t>
            </a:r>
            <a:r>
              <a:rPr lang="en-US" b="1" dirty="0"/>
              <a:t> matching engine</a:t>
            </a:r>
            <a:r>
              <a:rPr lang="en-US" dirty="0"/>
              <a:t> finds the best options based on demand, distance, quantity and value.</a:t>
            </a:r>
          </a:p>
        </p:txBody>
      </p:sp>
      <p:sp>
        <p:nvSpPr>
          <p:cNvPr id="12" name="Rectangle: Rounded Corners 11">
            <a:extLst>
              <a:ext uri="{FF2B5EF4-FFF2-40B4-BE49-F238E27FC236}">
                <a16:creationId xmlns:a16="http://schemas.microsoft.com/office/drawing/2014/main" id="{DCE12810-7830-2A11-9E87-D8EF1F59C75C}"/>
              </a:ext>
            </a:extLst>
          </p:cNvPr>
          <p:cNvSpPr/>
          <p:nvPr/>
        </p:nvSpPr>
        <p:spPr>
          <a:xfrm>
            <a:off x="7611404" y="1850832"/>
            <a:ext cx="1986974" cy="4362679"/>
          </a:xfrm>
          <a:prstGeom prst="roundRect">
            <a:avLst/>
          </a:prstGeom>
          <a:solidFill>
            <a:srgbClr val="8078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Next.js + FastAPI</a:t>
            </a:r>
            <a:r>
              <a:rPr lang="en-US"/>
              <a:t> connects local users, recyclers and industries based on their supply and demand.</a:t>
            </a:r>
          </a:p>
        </p:txBody>
      </p:sp>
      <p:sp>
        <p:nvSpPr>
          <p:cNvPr id="13" name="Rectangle: Rounded Corners 12">
            <a:extLst>
              <a:ext uri="{FF2B5EF4-FFF2-40B4-BE49-F238E27FC236}">
                <a16:creationId xmlns:a16="http://schemas.microsoft.com/office/drawing/2014/main" id="{237E413A-0315-5C42-6A77-F989775D76A8}"/>
              </a:ext>
            </a:extLst>
          </p:cNvPr>
          <p:cNvSpPr/>
          <p:nvPr/>
        </p:nvSpPr>
        <p:spPr>
          <a:xfrm>
            <a:off x="9988292" y="1850832"/>
            <a:ext cx="1986974" cy="4362679"/>
          </a:xfrm>
          <a:prstGeom prst="roundRect">
            <a:avLst/>
          </a:prstGeom>
          <a:solidFill>
            <a:srgbClr val="B6B1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Symbio shows the </a:t>
            </a:r>
            <a:r>
              <a:rPr lang="en-US" b="1" dirty="0"/>
              <a:t>best reuse pathway, potential partners, logistics and expected impact</a:t>
            </a:r>
            <a:r>
              <a:rPr lang="en-US" dirty="0"/>
              <a:t>.</a:t>
            </a:r>
          </a:p>
        </p:txBody>
      </p:sp>
      <p:sp>
        <p:nvSpPr>
          <p:cNvPr id="14" name="Title 3">
            <a:extLst>
              <a:ext uri="{FF2B5EF4-FFF2-40B4-BE49-F238E27FC236}">
                <a16:creationId xmlns:a16="http://schemas.microsoft.com/office/drawing/2014/main" id="{ED572C76-C4A1-3102-A2D6-C31E7CD76A91}"/>
              </a:ext>
            </a:extLst>
          </p:cNvPr>
          <p:cNvSpPr txBox="1">
            <a:spLocks/>
          </p:cNvSpPr>
          <p:nvPr/>
        </p:nvSpPr>
        <p:spPr>
          <a:xfrm>
            <a:off x="958889" y="700029"/>
            <a:ext cx="5197703" cy="3873268"/>
          </a:xfrm>
          <a:prstGeom prst="rect">
            <a:avLst/>
          </a:prstGeom>
        </p:spPr>
        <p:txBody>
          <a:bodyPr vert="horz" lIns="91440" tIns="45720" rIns="91440" bIns="45720" rtlCol="0" anchor="t">
            <a:normAutofit/>
          </a:bodyPr>
          <a:lst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a:lstStyle>
          <a:p>
            <a:r>
              <a:rPr lang="en-IN" sz="3600" dirty="0">
                <a:solidFill>
                  <a:srgbClr val="8078EE"/>
                </a:solidFill>
              </a:rPr>
              <a:t>System Architecture</a:t>
            </a:r>
          </a:p>
        </p:txBody>
      </p:sp>
      <p:sp>
        <p:nvSpPr>
          <p:cNvPr id="4" name="Title 3">
            <a:extLst>
              <a:ext uri="{FF2B5EF4-FFF2-40B4-BE49-F238E27FC236}">
                <a16:creationId xmlns:a16="http://schemas.microsoft.com/office/drawing/2014/main" id="{D7D13094-6459-5E04-7C07-15E38CD57843}"/>
              </a:ext>
            </a:extLst>
          </p:cNvPr>
          <p:cNvSpPr>
            <a:spLocks noGrp="1"/>
          </p:cNvSpPr>
          <p:nvPr>
            <p:ph type="title"/>
          </p:nvPr>
        </p:nvSpPr>
        <p:spPr>
          <a:xfrm>
            <a:off x="344512" y="2115159"/>
            <a:ext cx="1754353" cy="701946"/>
          </a:xfrm>
        </p:spPr>
        <p:txBody>
          <a:bodyPr>
            <a:normAutofit fontScale="90000"/>
          </a:bodyPr>
          <a:lstStyle/>
          <a:p>
            <a:pPr algn="ctr"/>
            <a:r>
              <a:rPr lang="en-IN" sz="2000" dirty="0"/>
              <a:t>1.USER INPUT</a:t>
            </a:r>
            <a:br>
              <a:rPr lang="en-IN" sz="2000" dirty="0"/>
            </a:br>
            <a:br>
              <a:rPr lang="en-IN" sz="2000" dirty="0"/>
            </a:br>
            <a:br>
              <a:rPr lang="en-IN" sz="2000" dirty="0"/>
            </a:br>
            <a:br>
              <a:rPr lang="en-IN" sz="2000" dirty="0"/>
            </a:br>
            <a:br>
              <a:rPr lang="en-IN" sz="2000" dirty="0"/>
            </a:br>
            <a:br>
              <a:rPr lang="en-IN" sz="2000" dirty="0"/>
            </a:br>
            <a:r>
              <a:rPr lang="en-US" sz="2000" dirty="0"/>
              <a:t>Users enter their </a:t>
            </a:r>
            <a:r>
              <a:rPr lang="en-US" sz="2000" b="1" dirty="0"/>
              <a:t>waste type, quantity, location and details</a:t>
            </a:r>
            <a:r>
              <a:rPr lang="en-US" sz="2000" dirty="0"/>
              <a:t>.</a:t>
            </a:r>
            <a:endParaRPr lang="en-IN" sz="2000" dirty="0"/>
          </a:p>
        </p:txBody>
      </p:sp>
      <p:sp>
        <p:nvSpPr>
          <p:cNvPr id="15" name="Title 3">
            <a:extLst>
              <a:ext uri="{FF2B5EF4-FFF2-40B4-BE49-F238E27FC236}">
                <a16:creationId xmlns:a16="http://schemas.microsoft.com/office/drawing/2014/main" id="{FBE1B860-C386-EE58-CDC8-E374F43DC36C}"/>
              </a:ext>
            </a:extLst>
          </p:cNvPr>
          <p:cNvSpPr txBox="1">
            <a:spLocks/>
          </p:cNvSpPr>
          <p:nvPr/>
        </p:nvSpPr>
        <p:spPr>
          <a:xfrm>
            <a:off x="3054897" y="2115159"/>
            <a:ext cx="1754353" cy="701946"/>
          </a:xfrm>
          <a:prstGeom prst="rect">
            <a:avLst/>
          </a:prstGeom>
        </p:spPr>
        <p:txBody>
          <a:bodyPr vert="horz" lIns="91440" tIns="45720" rIns="91440" bIns="45720" rtlCol="0" anchor="t">
            <a:normAutofit fontScale="92500" lnSpcReduction="20000"/>
          </a:bodyPr>
          <a:lst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a:lstStyle>
          <a:p>
            <a:r>
              <a:rPr lang="en-IN" sz="2000" dirty="0"/>
              <a:t>2.MATERIAL ANALYSIS USING AI</a:t>
            </a:r>
          </a:p>
        </p:txBody>
      </p:sp>
      <p:sp>
        <p:nvSpPr>
          <p:cNvPr id="16" name="Title 3">
            <a:extLst>
              <a:ext uri="{FF2B5EF4-FFF2-40B4-BE49-F238E27FC236}">
                <a16:creationId xmlns:a16="http://schemas.microsoft.com/office/drawing/2014/main" id="{CF7E48E4-570F-B91E-884E-F0BA38214CB4}"/>
              </a:ext>
            </a:extLst>
          </p:cNvPr>
          <p:cNvSpPr txBox="1">
            <a:spLocks/>
          </p:cNvSpPr>
          <p:nvPr/>
        </p:nvSpPr>
        <p:spPr>
          <a:xfrm>
            <a:off x="5308150" y="2115159"/>
            <a:ext cx="1754353" cy="701946"/>
          </a:xfrm>
          <a:prstGeom prst="rect">
            <a:avLst/>
          </a:prstGeom>
        </p:spPr>
        <p:txBody>
          <a:bodyPr vert="horz" lIns="91440" tIns="45720" rIns="91440" bIns="45720" rtlCol="0" anchor="t">
            <a:normAutofit/>
          </a:bodyPr>
          <a:lst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a:lstStyle>
          <a:p>
            <a:pPr algn="ctr"/>
            <a:r>
              <a:rPr lang="en-IN" sz="2000" dirty="0"/>
              <a:t>3.MATCHING </a:t>
            </a:r>
            <a:br>
              <a:rPr lang="en-IN" sz="2000" dirty="0"/>
            </a:br>
            <a:r>
              <a:rPr lang="en-IN" sz="2000" dirty="0"/>
              <a:t>ENGINE</a:t>
            </a:r>
          </a:p>
        </p:txBody>
      </p:sp>
      <p:sp>
        <p:nvSpPr>
          <p:cNvPr id="18" name="Title 3">
            <a:extLst>
              <a:ext uri="{FF2B5EF4-FFF2-40B4-BE49-F238E27FC236}">
                <a16:creationId xmlns:a16="http://schemas.microsoft.com/office/drawing/2014/main" id="{53EB988B-494A-FCA9-529F-4BF558825DAE}"/>
              </a:ext>
            </a:extLst>
          </p:cNvPr>
          <p:cNvSpPr txBox="1">
            <a:spLocks/>
          </p:cNvSpPr>
          <p:nvPr/>
        </p:nvSpPr>
        <p:spPr>
          <a:xfrm>
            <a:off x="7724357" y="2115159"/>
            <a:ext cx="1754353" cy="701946"/>
          </a:xfrm>
          <a:prstGeom prst="rect">
            <a:avLst/>
          </a:prstGeom>
        </p:spPr>
        <p:txBody>
          <a:bodyPr vert="horz" lIns="91440" tIns="45720" rIns="91440" bIns="45720" rtlCol="0" anchor="t">
            <a:normAutofit/>
          </a:bodyPr>
          <a:lst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a:lstStyle>
          <a:p>
            <a:pPr algn="ctr"/>
            <a:r>
              <a:rPr lang="en-IN" sz="2000" dirty="0"/>
              <a:t>4.NETWORK</a:t>
            </a:r>
          </a:p>
        </p:txBody>
      </p:sp>
      <p:sp>
        <p:nvSpPr>
          <p:cNvPr id="19" name="Title 3">
            <a:extLst>
              <a:ext uri="{FF2B5EF4-FFF2-40B4-BE49-F238E27FC236}">
                <a16:creationId xmlns:a16="http://schemas.microsoft.com/office/drawing/2014/main" id="{4E71AD72-1EB5-E461-339B-7DFBDD2D6EA4}"/>
              </a:ext>
            </a:extLst>
          </p:cNvPr>
          <p:cNvSpPr txBox="1">
            <a:spLocks/>
          </p:cNvSpPr>
          <p:nvPr/>
        </p:nvSpPr>
        <p:spPr>
          <a:xfrm>
            <a:off x="10164437" y="2115159"/>
            <a:ext cx="1754353" cy="701946"/>
          </a:xfrm>
          <a:prstGeom prst="rect">
            <a:avLst/>
          </a:prstGeom>
        </p:spPr>
        <p:txBody>
          <a:bodyPr vert="horz" lIns="91440" tIns="45720" rIns="91440" bIns="45720" rtlCol="0" anchor="t">
            <a:normAutofit/>
          </a:bodyPr>
          <a:lst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a:lstStyle>
          <a:p>
            <a:pPr algn="ctr"/>
            <a:r>
              <a:rPr lang="en-IN" sz="2000" dirty="0"/>
              <a:t>5.OUTPUT</a:t>
            </a:r>
          </a:p>
        </p:txBody>
      </p:sp>
    </p:spTree>
    <p:extLst>
      <p:ext uri="{BB962C8B-B14F-4D97-AF65-F5344CB8AC3E}">
        <p14:creationId xmlns:p14="http://schemas.microsoft.com/office/powerpoint/2010/main" val="3004717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4039A-AAF1-75D9-779D-91CA86651B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FF4489-B7EE-9248-9E8A-876B4532A996}"/>
              </a:ext>
            </a:extLst>
          </p:cNvPr>
          <p:cNvSpPr>
            <a:spLocks noGrp="1"/>
          </p:cNvSpPr>
          <p:nvPr>
            <p:ph type="title"/>
          </p:nvPr>
        </p:nvSpPr>
        <p:spPr/>
        <p:txBody>
          <a:bodyPr/>
          <a:lstStyle/>
          <a:p>
            <a:r>
              <a:rPr lang="en-IN" dirty="0">
                <a:solidFill>
                  <a:srgbClr val="8078EE"/>
                </a:solidFill>
              </a:rPr>
              <a:t>Innovation</a:t>
            </a:r>
          </a:p>
        </p:txBody>
      </p:sp>
      <p:sp>
        <p:nvSpPr>
          <p:cNvPr id="5" name="Content Placeholder 4">
            <a:extLst>
              <a:ext uri="{FF2B5EF4-FFF2-40B4-BE49-F238E27FC236}">
                <a16:creationId xmlns:a16="http://schemas.microsoft.com/office/drawing/2014/main" id="{5CC42244-CF3A-1FEF-95B6-F509D08E3084}"/>
              </a:ext>
            </a:extLst>
          </p:cNvPr>
          <p:cNvSpPr>
            <a:spLocks noGrp="1"/>
          </p:cNvSpPr>
          <p:nvPr>
            <p:ph sz="quarter" idx="13"/>
          </p:nvPr>
        </p:nvSpPr>
        <p:spPr>
          <a:xfrm>
            <a:off x="4886109" y="1362877"/>
            <a:ext cx="6080760" cy="3873267"/>
          </a:xfrm>
        </p:spPr>
        <p:txBody>
          <a:bodyPr>
            <a:noAutofit/>
          </a:bodyPr>
          <a:lstStyle/>
          <a:p>
            <a:pPr marL="0" indent="0">
              <a:buNone/>
            </a:pPr>
            <a:endParaRPr lang="en-US" dirty="0"/>
          </a:p>
          <a:p>
            <a:pPr marL="0" indent="0">
              <a:buNone/>
            </a:pPr>
            <a:r>
              <a:rPr lang="en-US" dirty="0"/>
              <a:t>Most recycling platforms stop at connecting industries to industries</a:t>
            </a:r>
          </a:p>
          <a:p>
            <a:pPr marL="0" indent="0">
              <a:buNone/>
            </a:pPr>
            <a:r>
              <a:rPr lang="en-US" dirty="0">
                <a:solidFill>
                  <a:srgbClr val="92D050"/>
                </a:solidFill>
              </a:rPr>
              <a:t>SYMBIO</a:t>
            </a:r>
            <a:r>
              <a:rPr lang="en-US" dirty="0"/>
              <a:t> connects local people, recyclers, and industries into one network, so recyclable waste has somewhere to go instead of ending up in disposal.</a:t>
            </a:r>
          </a:p>
          <a:p>
            <a:pPr marL="0" indent="0">
              <a:buNone/>
            </a:pPr>
            <a:r>
              <a:rPr lang="en-US" dirty="0"/>
              <a:t>But we don’t just connect people. We help them understand what they </a:t>
            </a:r>
            <a:r>
              <a:rPr lang="en-US" dirty="0">
                <a:solidFill>
                  <a:srgbClr val="8078EE"/>
                </a:solidFill>
              </a:rPr>
              <a:t>HAVE, </a:t>
            </a:r>
            <a:r>
              <a:rPr lang="en-US" dirty="0"/>
              <a:t>what it can </a:t>
            </a:r>
            <a:r>
              <a:rPr lang="en-US" dirty="0">
                <a:solidFill>
                  <a:srgbClr val="8078EE"/>
                </a:solidFill>
              </a:rPr>
              <a:t>BECOME</a:t>
            </a:r>
            <a:r>
              <a:rPr lang="en-US" dirty="0"/>
              <a:t> and who </a:t>
            </a:r>
            <a:r>
              <a:rPr lang="en-US" dirty="0">
                <a:solidFill>
                  <a:srgbClr val="8078EE"/>
                </a:solidFill>
              </a:rPr>
              <a:t>NEEDS</a:t>
            </a:r>
            <a:r>
              <a:rPr lang="en-US" dirty="0"/>
              <a:t> it</a:t>
            </a:r>
            <a:r>
              <a:rPr lang="en-US" b="1" dirty="0"/>
              <a:t>.</a:t>
            </a:r>
            <a:r>
              <a:rPr lang="en-US" dirty="0"/>
              <a:t>  With material intelligence, demand and supply network, pathway comparison, and AI-powered matching, </a:t>
            </a:r>
            <a:r>
              <a:rPr lang="en-US" dirty="0">
                <a:solidFill>
                  <a:srgbClr val="92D050"/>
                </a:solidFill>
              </a:rPr>
              <a:t>SYMBIO</a:t>
            </a:r>
            <a:r>
              <a:rPr lang="en-US" dirty="0"/>
              <a:t> turns waste from something you want to get rid of into something you can actually find value in.</a:t>
            </a:r>
          </a:p>
          <a:p>
            <a:pPr marL="0" indent="0">
              <a:buNone/>
            </a:pPr>
            <a:r>
              <a:rPr lang="en-US" dirty="0"/>
              <a:t>Because the problem was never just the waste</a:t>
            </a:r>
            <a:r>
              <a:rPr lang="en-US" b="1" dirty="0"/>
              <a:t>, </a:t>
            </a:r>
            <a:r>
              <a:rPr lang="en-US" dirty="0"/>
              <a:t>It was the missing connection.</a:t>
            </a:r>
          </a:p>
          <a:p>
            <a:pPr marL="0" indent="0">
              <a:buNone/>
            </a:pPr>
            <a:endParaRPr lang="en-IN" dirty="0"/>
          </a:p>
        </p:txBody>
      </p:sp>
      <p:pic>
        <p:nvPicPr>
          <p:cNvPr id="3" name="Graphic 2" descr="Lightbulb with solid fill">
            <a:extLst>
              <a:ext uri="{FF2B5EF4-FFF2-40B4-BE49-F238E27FC236}">
                <a16:creationId xmlns:a16="http://schemas.microsoft.com/office/drawing/2014/main" id="{5A5956E9-693F-B057-0881-36D9092D6D1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78853" y="2222382"/>
            <a:ext cx="2705101" cy="2705101"/>
          </a:xfrm>
          <a:prstGeom prst="rect">
            <a:avLst/>
          </a:prstGeom>
        </p:spPr>
      </p:pic>
    </p:spTree>
    <p:extLst>
      <p:ext uri="{BB962C8B-B14F-4D97-AF65-F5344CB8AC3E}">
        <p14:creationId xmlns:p14="http://schemas.microsoft.com/office/powerpoint/2010/main" val="1786682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A6C57-7451-F3A6-EDE1-0DF8326F6C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895C58C-4EF8-6043-5C04-00AF559B19B1}"/>
              </a:ext>
            </a:extLst>
          </p:cNvPr>
          <p:cNvSpPr>
            <a:spLocks noGrp="1"/>
          </p:cNvSpPr>
          <p:nvPr>
            <p:ph type="title"/>
          </p:nvPr>
        </p:nvSpPr>
        <p:spPr/>
        <p:txBody>
          <a:bodyPr/>
          <a:lstStyle/>
          <a:p>
            <a:r>
              <a:rPr lang="en-IN" dirty="0">
                <a:solidFill>
                  <a:srgbClr val="8078EE"/>
                </a:solidFill>
              </a:rPr>
              <a:t>Impact</a:t>
            </a:r>
            <a:br>
              <a:rPr lang="en-IN" dirty="0">
                <a:solidFill>
                  <a:srgbClr val="8078EE"/>
                </a:solidFill>
              </a:rPr>
            </a:br>
            <a:endParaRPr lang="en-IN" dirty="0">
              <a:solidFill>
                <a:srgbClr val="8078EE"/>
              </a:solidFill>
            </a:endParaRPr>
          </a:p>
        </p:txBody>
      </p:sp>
      <p:sp>
        <p:nvSpPr>
          <p:cNvPr id="5" name="Content Placeholder 4">
            <a:extLst>
              <a:ext uri="{FF2B5EF4-FFF2-40B4-BE49-F238E27FC236}">
                <a16:creationId xmlns:a16="http://schemas.microsoft.com/office/drawing/2014/main" id="{9DEF8391-3D26-D0C9-AC0D-B48885CDE0E0}"/>
              </a:ext>
            </a:extLst>
          </p:cNvPr>
          <p:cNvSpPr>
            <a:spLocks noGrp="1"/>
          </p:cNvSpPr>
          <p:nvPr>
            <p:ph sz="quarter" idx="13"/>
          </p:nvPr>
        </p:nvSpPr>
        <p:spPr>
          <a:xfrm>
            <a:off x="4886109" y="1362877"/>
            <a:ext cx="6080760" cy="3873267"/>
          </a:xfrm>
        </p:spPr>
        <p:txBody>
          <a:bodyPr>
            <a:noAutofit/>
          </a:bodyPr>
          <a:lstStyle/>
          <a:p>
            <a:pPr marL="0" indent="0">
              <a:buNone/>
            </a:pPr>
            <a:endParaRPr lang="en-US" dirty="0"/>
          </a:p>
          <a:p>
            <a:pPr marL="0" indent="0">
              <a:buNone/>
            </a:pPr>
            <a:r>
              <a:rPr lang="en-US" dirty="0">
                <a:solidFill>
                  <a:srgbClr val="92D050"/>
                </a:solidFill>
              </a:rPr>
              <a:t>SYMBIO </a:t>
            </a:r>
            <a:r>
              <a:rPr lang="en-US" dirty="0"/>
              <a:t>helps keep useful waste in circulation and ensures less waste, more recycling and more value from materials that would have otherwise been lost.</a:t>
            </a:r>
            <a:br>
              <a:rPr lang="en-US" dirty="0"/>
            </a:br>
            <a:br>
              <a:rPr lang="en-US" dirty="0"/>
            </a:br>
            <a:r>
              <a:rPr lang="en-US" dirty="0">
                <a:solidFill>
                  <a:srgbClr val="8078EE"/>
                </a:solidFill>
              </a:rPr>
              <a:t>ENVIORNMENTALLY</a:t>
            </a:r>
            <a:r>
              <a:rPr lang="en-US" dirty="0"/>
              <a:t> it keeps recyclable materials in circulation and reduces unnecessary disposal. </a:t>
            </a:r>
            <a:r>
              <a:rPr lang="en-US" dirty="0">
                <a:solidFill>
                  <a:srgbClr val="8078EE"/>
                </a:solidFill>
              </a:rPr>
              <a:t>ECONOMICALLY</a:t>
            </a:r>
            <a:r>
              <a:rPr lang="en-US" dirty="0"/>
              <a:t> it turns waste into a usable raw material helping businesses recover value and find cheaper inputs and create new opportunities from materials that were once considered waste. </a:t>
            </a:r>
            <a:r>
              <a:rPr lang="en-US" dirty="0">
                <a:solidFill>
                  <a:srgbClr val="8078EE"/>
                </a:solidFill>
              </a:rPr>
              <a:t>SOCIALLY</a:t>
            </a:r>
            <a:r>
              <a:rPr lang="en-US" dirty="0"/>
              <a:t> it builds a network connecting local communities, recyclers and industries, making people more aware of what materials are in demand and where their waste can actually go.</a:t>
            </a:r>
          </a:p>
          <a:p>
            <a:pPr marL="0" indent="0">
              <a:buNone/>
            </a:pPr>
            <a:r>
              <a:rPr lang="en-US" dirty="0"/>
              <a:t>And the best part? </a:t>
            </a:r>
            <a:r>
              <a:rPr lang="en-US" b="1" dirty="0"/>
              <a:t>One man’s trash is another industry’s treasure.</a:t>
            </a:r>
            <a:r>
              <a:rPr lang="en-US" dirty="0"/>
              <a:t>  </a:t>
            </a:r>
            <a:endParaRPr lang="en-IN" dirty="0"/>
          </a:p>
        </p:txBody>
      </p:sp>
      <p:pic>
        <p:nvPicPr>
          <p:cNvPr id="10" name="Graphic 9" descr="Gears with solid fill">
            <a:extLst>
              <a:ext uri="{FF2B5EF4-FFF2-40B4-BE49-F238E27FC236}">
                <a16:creationId xmlns:a16="http://schemas.microsoft.com/office/drawing/2014/main" id="{3B71B489-204A-88BE-F766-33FF0D7CE3F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96677" y="2115239"/>
            <a:ext cx="3160923" cy="3160923"/>
          </a:xfrm>
          <a:prstGeom prst="rect">
            <a:avLst/>
          </a:prstGeom>
        </p:spPr>
      </p:pic>
    </p:spTree>
    <p:extLst>
      <p:ext uri="{BB962C8B-B14F-4D97-AF65-F5344CB8AC3E}">
        <p14:creationId xmlns:p14="http://schemas.microsoft.com/office/powerpoint/2010/main" val="2139170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D8102-4FAD-18F0-4A72-F1EA11B5AC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90353D-E341-43D5-199C-C727BAADA602}"/>
              </a:ext>
            </a:extLst>
          </p:cNvPr>
          <p:cNvSpPr>
            <a:spLocks noGrp="1"/>
          </p:cNvSpPr>
          <p:nvPr>
            <p:ph type="title"/>
          </p:nvPr>
        </p:nvSpPr>
        <p:spPr/>
        <p:txBody>
          <a:bodyPr/>
          <a:lstStyle/>
          <a:p>
            <a:r>
              <a:rPr lang="en-IN" dirty="0">
                <a:solidFill>
                  <a:srgbClr val="8078EE"/>
                </a:solidFill>
              </a:rPr>
              <a:t>Feasibility</a:t>
            </a:r>
          </a:p>
        </p:txBody>
      </p:sp>
      <p:sp>
        <p:nvSpPr>
          <p:cNvPr id="5" name="Content Placeholder 4">
            <a:extLst>
              <a:ext uri="{FF2B5EF4-FFF2-40B4-BE49-F238E27FC236}">
                <a16:creationId xmlns:a16="http://schemas.microsoft.com/office/drawing/2014/main" id="{69399AED-E762-B088-7CDB-AE8BBB1EEC5D}"/>
              </a:ext>
            </a:extLst>
          </p:cNvPr>
          <p:cNvSpPr>
            <a:spLocks noGrp="1"/>
          </p:cNvSpPr>
          <p:nvPr>
            <p:ph sz="quarter" idx="13"/>
          </p:nvPr>
        </p:nvSpPr>
        <p:spPr>
          <a:xfrm>
            <a:off x="4886109" y="1362877"/>
            <a:ext cx="6080760" cy="3873267"/>
          </a:xfrm>
        </p:spPr>
        <p:txBody>
          <a:bodyPr>
            <a:noAutofit/>
          </a:bodyPr>
          <a:lstStyle/>
          <a:p>
            <a:pPr marL="0" indent="0">
              <a:buNone/>
            </a:pPr>
            <a:endParaRPr lang="en-US" dirty="0"/>
          </a:p>
          <a:p>
            <a:pPr marL="0" indent="0">
              <a:buNone/>
            </a:pPr>
            <a:r>
              <a:rPr lang="en-US" dirty="0">
                <a:solidFill>
                  <a:srgbClr val="92D050"/>
                </a:solidFill>
              </a:rPr>
              <a:t>SYMBIO</a:t>
            </a:r>
            <a:r>
              <a:rPr lang="en-US" dirty="0"/>
              <a:t> is built around a simple idea that can </a:t>
            </a:r>
            <a:r>
              <a:rPr lang="en-US" b="1" dirty="0"/>
              <a:t>start small and grow big.</a:t>
            </a:r>
            <a:r>
              <a:rPr lang="en-US" dirty="0"/>
              <a:t> A local business can begin by listing a small amount of recyclable waste, connect with a nearby recycler or industry, and gradually become part of a larger network. As more people, recyclers and industries join, the same system can scale from</a:t>
            </a:r>
            <a:r>
              <a:rPr lang="en-US" b="1" dirty="0">
                <a:solidFill>
                  <a:srgbClr val="8078EE"/>
                </a:solidFill>
              </a:rPr>
              <a:t> LOCAL </a:t>
            </a:r>
            <a:r>
              <a:rPr lang="en-US" dirty="0"/>
              <a:t>to wider </a:t>
            </a:r>
            <a:r>
              <a:rPr lang="en-US" dirty="0">
                <a:solidFill>
                  <a:srgbClr val="8078EE"/>
                </a:solidFill>
              </a:rPr>
              <a:t>INDUSTRY </a:t>
            </a:r>
            <a:r>
              <a:rPr lang="en-US" dirty="0"/>
              <a:t>networks.</a:t>
            </a:r>
          </a:p>
          <a:p>
            <a:pPr marL="0" indent="0">
              <a:buNone/>
            </a:pPr>
            <a:r>
              <a:rPr lang="en-US" dirty="0"/>
              <a:t>And this isn’t built around an imaginary problem. </a:t>
            </a:r>
            <a:r>
              <a:rPr lang="en-US" dirty="0">
                <a:solidFill>
                  <a:srgbClr val="92D050"/>
                </a:solidFill>
              </a:rPr>
              <a:t>SYMBIO</a:t>
            </a:r>
            <a:r>
              <a:rPr lang="en-US" b="1" dirty="0"/>
              <a:t> </a:t>
            </a:r>
            <a:r>
              <a:rPr lang="en-US" dirty="0"/>
              <a:t>is built around real industry needs like materials are available, what is in demand, where it is needed and whether moving it actually makes sense. By bringing the right people together it can help turn one-time waste transactions into real </a:t>
            </a:r>
            <a:r>
              <a:rPr lang="en-US" dirty="0">
                <a:solidFill>
                  <a:srgbClr val="8078EE"/>
                </a:solidFill>
              </a:rPr>
              <a:t>LONG TERM PATERNSHIPS.</a:t>
            </a:r>
          </a:p>
          <a:p>
            <a:pPr marL="0" indent="0">
              <a:buNone/>
            </a:pPr>
            <a:endParaRPr lang="en-IN" dirty="0"/>
          </a:p>
        </p:txBody>
      </p:sp>
      <p:pic>
        <p:nvPicPr>
          <p:cNvPr id="3" name="Graphic 2" descr="Remote work with solid fill">
            <a:extLst>
              <a:ext uri="{FF2B5EF4-FFF2-40B4-BE49-F238E27FC236}">
                <a16:creationId xmlns:a16="http://schemas.microsoft.com/office/drawing/2014/main" id="{3DB048DD-0BE2-E427-F8CF-B7593084D71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25131" y="2359406"/>
            <a:ext cx="2876738" cy="2876738"/>
          </a:xfrm>
          <a:prstGeom prst="rect">
            <a:avLst/>
          </a:prstGeom>
        </p:spPr>
      </p:pic>
    </p:spTree>
    <p:extLst>
      <p:ext uri="{BB962C8B-B14F-4D97-AF65-F5344CB8AC3E}">
        <p14:creationId xmlns:p14="http://schemas.microsoft.com/office/powerpoint/2010/main" val="1526096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26BAB-E4D7-8250-F89C-94BA2D093A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C327FC-FD26-718F-9A91-73350CF79265}"/>
              </a:ext>
            </a:extLst>
          </p:cNvPr>
          <p:cNvSpPr>
            <a:spLocks noGrp="1"/>
          </p:cNvSpPr>
          <p:nvPr>
            <p:ph type="title"/>
          </p:nvPr>
        </p:nvSpPr>
        <p:spPr>
          <a:xfrm>
            <a:off x="4524650" y="287868"/>
            <a:ext cx="4090540" cy="1225221"/>
          </a:xfrm>
        </p:spPr>
        <p:txBody>
          <a:bodyPr>
            <a:normAutofit/>
          </a:bodyPr>
          <a:lstStyle/>
          <a:p>
            <a:r>
              <a:rPr lang="en-IN" sz="3600" dirty="0">
                <a:solidFill>
                  <a:srgbClr val="8078EE"/>
                </a:solidFill>
              </a:rPr>
              <a:t>ROADMAP</a:t>
            </a:r>
          </a:p>
        </p:txBody>
      </p:sp>
      <p:sp>
        <p:nvSpPr>
          <p:cNvPr id="5" name="Content Placeholder 4">
            <a:extLst>
              <a:ext uri="{FF2B5EF4-FFF2-40B4-BE49-F238E27FC236}">
                <a16:creationId xmlns:a16="http://schemas.microsoft.com/office/drawing/2014/main" id="{65E18C67-5863-465A-C382-7A3B6C99C326}"/>
              </a:ext>
            </a:extLst>
          </p:cNvPr>
          <p:cNvSpPr>
            <a:spLocks noGrp="1"/>
          </p:cNvSpPr>
          <p:nvPr>
            <p:ph sz="quarter" idx="13"/>
          </p:nvPr>
        </p:nvSpPr>
        <p:spPr>
          <a:xfrm>
            <a:off x="4886109" y="1362877"/>
            <a:ext cx="6080760" cy="3873267"/>
          </a:xfrm>
        </p:spPr>
        <p:txBody>
          <a:bodyPr>
            <a:noAutofit/>
          </a:bodyPr>
          <a:lstStyle/>
          <a:p>
            <a:pPr marL="0" indent="0">
              <a:buNone/>
            </a:pPr>
            <a:endParaRPr lang="en-US" dirty="0"/>
          </a:p>
          <a:p>
            <a:pPr marL="0" indent="0">
              <a:buNone/>
            </a:pPr>
            <a:endParaRPr lang="en-IN" dirty="0"/>
          </a:p>
        </p:txBody>
      </p:sp>
      <p:sp>
        <p:nvSpPr>
          <p:cNvPr id="35" name="Oval 34">
            <a:extLst>
              <a:ext uri="{FF2B5EF4-FFF2-40B4-BE49-F238E27FC236}">
                <a16:creationId xmlns:a16="http://schemas.microsoft.com/office/drawing/2014/main" id="{69E7D6AB-5EB3-AC51-867B-4D088071A9F6}"/>
              </a:ext>
            </a:extLst>
          </p:cNvPr>
          <p:cNvSpPr/>
          <p:nvPr/>
        </p:nvSpPr>
        <p:spPr>
          <a:xfrm>
            <a:off x="277907" y="1322588"/>
            <a:ext cx="2049137" cy="2027104"/>
          </a:xfrm>
          <a:prstGeom prst="ellipse">
            <a:avLst/>
          </a:prstGeom>
          <a:solidFill>
            <a:schemeClr val="bg1"/>
          </a:solidFill>
          <a:ln w="127000">
            <a:solidFill>
              <a:srgbClr val="3C2F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171F3CEA-E360-3532-6023-C0E1D40E63D1}"/>
              </a:ext>
            </a:extLst>
          </p:cNvPr>
          <p:cNvSpPr/>
          <p:nvPr/>
        </p:nvSpPr>
        <p:spPr>
          <a:xfrm>
            <a:off x="2688503" y="2496183"/>
            <a:ext cx="2049137" cy="2027104"/>
          </a:xfrm>
          <a:prstGeom prst="ellipse">
            <a:avLst/>
          </a:prstGeom>
          <a:solidFill>
            <a:schemeClr val="bg1"/>
          </a:solidFill>
          <a:ln w="127000">
            <a:solidFill>
              <a:srgbClr val="5F54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7DAE5359-1D10-3627-8F1F-3C7D20987E0C}"/>
              </a:ext>
            </a:extLst>
          </p:cNvPr>
          <p:cNvSpPr/>
          <p:nvPr/>
        </p:nvSpPr>
        <p:spPr>
          <a:xfrm>
            <a:off x="5247568" y="1426029"/>
            <a:ext cx="2049137" cy="2027104"/>
          </a:xfrm>
          <a:prstGeom prst="ellipse">
            <a:avLst/>
          </a:prstGeom>
          <a:solidFill>
            <a:schemeClr val="bg1"/>
          </a:solidFill>
          <a:ln w="127000">
            <a:solidFill>
              <a:srgbClr val="5F54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854817DF-1968-F55C-EE24-4EB25131F186}"/>
              </a:ext>
            </a:extLst>
          </p:cNvPr>
          <p:cNvSpPr/>
          <p:nvPr/>
        </p:nvSpPr>
        <p:spPr>
          <a:xfrm>
            <a:off x="7590621" y="2518547"/>
            <a:ext cx="2049137" cy="2027104"/>
          </a:xfrm>
          <a:prstGeom prst="ellipse">
            <a:avLst/>
          </a:prstGeom>
          <a:solidFill>
            <a:schemeClr val="bg1"/>
          </a:solidFill>
          <a:ln w="127000">
            <a:solidFill>
              <a:srgbClr val="807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9DE74B54-1118-894D-7C7D-86F68608BE96}"/>
              </a:ext>
            </a:extLst>
          </p:cNvPr>
          <p:cNvSpPr/>
          <p:nvPr/>
        </p:nvSpPr>
        <p:spPr>
          <a:xfrm>
            <a:off x="9788227" y="1362877"/>
            <a:ext cx="2049137" cy="2027104"/>
          </a:xfrm>
          <a:prstGeom prst="ellipse">
            <a:avLst/>
          </a:prstGeom>
          <a:solidFill>
            <a:schemeClr val="bg1"/>
          </a:solidFill>
          <a:ln w="130175">
            <a:solidFill>
              <a:srgbClr val="B6B1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D8DE7DA7-69E2-5DFA-E9A2-7A3049593334}"/>
              </a:ext>
            </a:extLst>
          </p:cNvPr>
          <p:cNvSpPr txBox="1"/>
          <p:nvPr/>
        </p:nvSpPr>
        <p:spPr>
          <a:xfrm>
            <a:off x="-53773" y="3646124"/>
            <a:ext cx="2593806" cy="1231106"/>
          </a:xfrm>
          <a:prstGeom prst="rect">
            <a:avLst/>
          </a:prstGeom>
          <a:noFill/>
        </p:spPr>
        <p:txBody>
          <a:bodyPr wrap="square">
            <a:spAutoFit/>
          </a:bodyPr>
          <a:lstStyle/>
          <a:p>
            <a:pPr algn="ctr"/>
            <a:r>
              <a:rPr lang="en-US" b="1" dirty="0"/>
              <a:t>FOUNDATION</a:t>
            </a:r>
            <a:br>
              <a:rPr lang="en-US" dirty="0"/>
            </a:br>
            <a:r>
              <a:rPr lang="en-US" sz="1400" dirty="0"/>
              <a:t>Project architecture, Core UI, Backend APIs, Material &amp; recipient data, Initial matching engine</a:t>
            </a:r>
          </a:p>
        </p:txBody>
      </p:sp>
      <p:sp>
        <p:nvSpPr>
          <p:cNvPr id="60" name="TextBox 59">
            <a:extLst>
              <a:ext uri="{FF2B5EF4-FFF2-40B4-BE49-F238E27FC236}">
                <a16:creationId xmlns:a16="http://schemas.microsoft.com/office/drawing/2014/main" id="{04315EDE-975E-0934-526F-82269448E37A}"/>
              </a:ext>
            </a:extLst>
          </p:cNvPr>
          <p:cNvSpPr txBox="1"/>
          <p:nvPr/>
        </p:nvSpPr>
        <p:spPr>
          <a:xfrm>
            <a:off x="2269475" y="4681219"/>
            <a:ext cx="3024985" cy="1446550"/>
          </a:xfrm>
          <a:prstGeom prst="rect">
            <a:avLst/>
          </a:prstGeom>
          <a:noFill/>
        </p:spPr>
        <p:txBody>
          <a:bodyPr wrap="square">
            <a:spAutoFit/>
          </a:bodyPr>
          <a:lstStyle/>
          <a:p>
            <a:pPr algn="ctr"/>
            <a:r>
              <a:rPr lang="en-US" b="1" dirty="0"/>
              <a:t>INTELLIGENCE</a:t>
            </a:r>
            <a:br>
              <a:rPr lang="en-US" dirty="0"/>
            </a:br>
            <a:r>
              <a:rPr lang="en-US" sz="1400" dirty="0"/>
              <a:t>AI waste classification, </a:t>
            </a:r>
            <a:r>
              <a:rPr lang="en-US" sz="1400" dirty="0" err="1"/>
              <a:t>Ollama</a:t>
            </a:r>
            <a:r>
              <a:rPr lang="en-US" sz="1400" dirty="0"/>
              <a:t>/Qwen integration, Knowledge Base, Deterministic matching , Safety layer , Explainable recommendations</a:t>
            </a:r>
          </a:p>
        </p:txBody>
      </p:sp>
      <p:sp>
        <p:nvSpPr>
          <p:cNvPr id="62" name="TextBox 61">
            <a:extLst>
              <a:ext uri="{FF2B5EF4-FFF2-40B4-BE49-F238E27FC236}">
                <a16:creationId xmlns:a16="http://schemas.microsoft.com/office/drawing/2014/main" id="{C2CDBA4A-840B-09E6-0F38-F5A69084C4B4}"/>
              </a:ext>
            </a:extLst>
          </p:cNvPr>
          <p:cNvSpPr txBox="1"/>
          <p:nvPr/>
        </p:nvSpPr>
        <p:spPr>
          <a:xfrm>
            <a:off x="5081471" y="3532099"/>
            <a:ext cx="2509150" cy="1723549"/>
          </a:xfrm>
          <a:prstGeom prst="rect">
            <a:avLst/>
          </a:prstGeom>
          <a:noFill/>
        </p:spPr>
        <p:txBody>
          <a:bodyPr wrap="square">
            <a:spAutoFit/>
          </a:bodyPr>
          <a:lstStyle/>
          <a:p>
            <a:pPr algn="ctr"/>
            <a:r>
              <a:rPr lang="en-US" b="1" dirty="0"/>
              <a:t>PLATFORM EXPANSION</a:t>
            </a:r>
            <a:br>
              <a:rPr lang="en-US" dirty="0"/>
            </a:br>
            <a:r>
              <a:rPr lang="en-US" sz="1400" dirty="0"/>
              <a:t>Interactive </a:t>
            </a:r>
            <a:r>
              <a:rPr lang="en-US" sz="1400" dirty="0" err="1"/>
              <a:t>map,Impact</a:t>
            </a:r>
            <a:r>
              <a:rPr lang="en-US" sz="1400" dirty="0"/>
              <a:t> analytics, Document upload, Knowledge Base UI, Match details, Reuse pathways,  Dashboard</a:t>
            </a:r>
          </a:p>
        </p:txBody>
      </p:sp>
      <p:sp>
        <p:nvSpPr>
          <p:cNvPr id="64" name="TextBox 63">
            <a:extLst>
              <a:ext uri="{FF2B5EF4-FFF2-40B4-BE49-F238E27FC236}">
                <a16:creationId xmlns:a16="http://schemas.microsoft.com/office/drawing/2014/main" id="{4BA3F754-9391-9B1A-C1AF-C2C15399223A}"/>
              </a:ext>
            </a:extLst>
          </p:cNvPr>
          <p:cNvSpPr txBox="1"/>
          <p:nvPr/>
        </p:nvSpPr>
        <p:spPr>
          <a:xfrm>
            <a:off x="7093911" y="4697428"/>
            <a:ext cx="3113344" cy="1723549"/>
          </a:xfrm>
          <a:prstGeom prst="rect">
            <a:avLst/>
          </a:prstGeom>
          <a:noFill/>
        </p:spPr>
        <p:txBody>
          <a:bodyPr wrap="square">
            <a:spAutoFit/>
          </a:bodyPr>
          <a:lstStyle/>
          <a:p>
            <a:pPr algn="ctr"/>
            <a:r>
              <a:rPr lang="en-US" b="1" dirty="0"/>
              <a:t>RELIABILITY &amp; VALIDATION</a:t>
            </a:r>
            <a:br>
              <a:rPr lang="en-US" dirty="0"/>
            </a:br>
            <a:r>
              <a:rPr lang="en-US" sz="1400" dirty="0" err="1"/>
              <a:t>Ollama</a:t>
            </a:r>
            <a:r>
              <a:rPr lang="en-US" sz="1400" dirty="0"/>
              <a:t> auto-</a:t>
            </a:r>
            <a:r>
              <a:rPr lang="en-US" sz="1400" dirty="0" err="1"/>
              <a:t>detection,AI</a:t>
            </a:r>
            <a:r>
              <a:rPr lang="en-US" sz="1400" dirty="0"/>
              <a:t> </a:t>
            </a:r>
            <a:r>
              <a:rPr lang="en-US" sz="1400" dirty="0" err="1"/>
              <a:t>fallback,API</a:t>
            </a:r>
            <a:r>
              <a:rPr lang="en-US" sz="1400" dirty="0"/>
              <a:t>/timeout fixes ,Error </a:t>
            </a:r>
            <a:r>
              <a:rPr lang="en-US" sz="1400" dirty="0" err="1"/>
              <a:t>handling,Safety</a:t>
            </a:r>
            <a:r>
              <a:rPr lang="en-US" sz="1400" dirty="0"/>
              <a:t> edge </a:t>
            </a:r>
            <a:r>
              <a:rPr lang="en-US" sz="1400" dirty="0" err="1"/>
              <a:t>cases,automated</a:t>
            </a:r>
            <a:r>
              <a:rPr lang="en-US" sz="1400" dirty="0"/>
              <a:t> </a:t>
            </a:r>
            <a:r>
              <a:rPr lang="en-US" sz="1400" dirty="0" err="1"/>
              <a:t>tests,End</a:t>
            </a:r>
            <a:r>
              <a:rPr lang="en-US" sz="1400" dirty="0"/>
              <a:t>-to-end validation</a:t>
            </a:r>
          </a:p>
        </p:txBody>
      </p:sp>
      <p:sp>
        <p:nvSpPr>
          <p:cNvPr id="66" name="TextBox 65">
            <a:extLst>
              <a:ext uri="{FF2B5EF4-FFF2-40B4-BE49-F238E27FC236}">
                <a16:creationId xmlns:a16="http://schemas.microsoft.com/office/drawing/2014/main" id="{271E9E31-DE74-D467-5B7F-EC79B221F98F}"/>
              </a:ext>
            </a:extLst>
          </p:cNvPr>
          <p:cNvSpPr txBox="1"/>
          <p:nvPr/>
        </p:nvSpPr>
        <p:spPr>
          <a:xfrm>
            <a:off x="9585434" y="3453133"/>
            <a:ext cx="2606566" cy="1938992"/>
          </a:xfrm>
          <a:prstGeom prst="rect">
            <a:avLst/>
          </a:prstGeom>
          <a:noFill/>
        </p:spPr>
        <p:txBody>
          <a:bodyPr wrap="square">
            <a:spAutoFit/>
          </a:bodyPr>
          <a:lstStyle/>
          <a:p>
            <a:pPr algn="ctr"/>
            <a:r>
              <a:rPr lang="en-US" b="1" dirty="0"/>
              <a:t>REAL WORLD SYMBIO</a:t>
            </a:r>
            <a:br>
              <a:rPr lang="en-US" dirty="0"/>
            </a:br>
            <a:r>
              <a:rPr lang="en-US" sz="1400" dirty="0"/>
              <a:t>Verified waste/reuse partners, Expanded material </a:t>
            </a:r>
            <a:r>
              <a:rPr lang="en-US" sz="1400" dirty="0" err="1"/>
              <a:t>database,Real</a:t>
            </a:r>
            <a:r>
              <a:rPr lang="en-US" sz="1400" dirty="0"/>
              <a:t>-world data </a:t>
            </a:r>
            <a:r>
              <a:rPr lang="en-US" sz="1400" dirty="0" err="1"/>
              <a:t>integration,Compliance</a:t>
            </a:r>
            <a:r>
              <a:rPr lang="en-US" sz="1400" dirty="0"/>
              <a:t> </a:t>
            </a:r>
            <a:r>
              <a:rPr lang="en-US" sz="1400" dirty="0" err="1"/>
              <a:t>intelligence,Circular</a:t>
            </a:r>
            <a:r>
              <a:rPr lang="en-US" sz="1400" dirty="0"/>
              <a:t> resource network</a:t>
            </a:r>
          </a:p>
        </p:txBody>
      </p:sp>
      <p:pic>
        <p:nvPicPr>
          <p:cNvPr id="68" name="Graphic 67" descr="Storytelling outline">
            <a:extLst>
              <a:ext uri="{FF2B5EF4-FFF2-40B4-BE49-F238E27FC236}">
                <a16:creationId xmlns:a16="http://schemas.microsoft.com/office/drawing/2014/main" id="{507BF619-71F3-B525-85A1-9002281151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5278" y="1738745"/>
            <a:ext cx="1142730" cy="1142730"/>
          </a:xfrm>
          <a:prstGeom prst="rect">
            <a:avLst/>
          </a:prstGeom>
        </p:spPr>
      </p:pic>
      <p:pic>
        <p:nvPicPr>
          <p:cNvPr id="70" name="Graphic 69" descr="Artificial Intelligence with solid fill">
            <a:extLst>
              <a:ext uri="{FF2B5EF4-FFF2-40B4-BE49-F238E27FC236}">
                <a16:creationId xmlns:a16="http://schemas.microsoft.com/office/drawing/2014/main" id="{807BEB80-8D40-2C7B-9D93-4B2DA0BA03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43990" y="2823685"/>
            <a:ext cx="1437992" cy="1437992"/>
          </a:xfrm>
          <a:prstGeom prst="rect">
            <a:avLst/>
          </a:prstGeom>
        </p:spPr>
      </p:pic>
      <p:pic>
        <p:nvPicPr>
          <p:cNvPr id="72" name="Graphic 71" descr="Aspiration with solid fill">
            <a:extLst>
              <a:ext uri="{FF2B5EF4-FFF2-40B4-BE49-F238E27FC236}">
                <a16:creationId xmlns:a16="http://schemas.microsoft.com/office/drawing/2014/main" id="{B94C19BB-D2AA-3892-0A4A-67ACD3AC109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88464" y="1576241"/>
            <a:ext cx="1680538" cy="1680538"/>
          </a:xfrm>
          <a:prstGeom prst="rect">
            <a:avLst/>
          </a:prstGeom>
        </p:spPr>
      </p:pic>
      <p:pic>
        <p:nvPicPr>
          <p:cNvPr id="74" name="Graphic 73" descr="Cheers with solid fill">
            <a:extLst>
              <a:ext uri="{FF2B5EF4-FFF2-40B4-BE49-F238E27FC236}">
                <a16:creationId xmlns:a16="http://schemas.microsoft.com/office/drawing/2014/main" id="{5DDC1DB3-5B98-2918-FB06-60122BCDAE8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15468" y="1726954"/>
            <a:ext cx="1394654" cy="1394654"/>
          </a:xfrm>
          <a:prstGeom prst="rect">
            <a:avLst/>
          </a:prstGeom>
        </p:spPr>
      </p:pic>
      <p:pic>
        <p:nvPicPr>
          <p:cNvPr id="76" name="Graphic 75" descr="Internet Of Things outline">
            <a:extLst>
              <a:ext uri="{FF2B5EF4-FFF2-40B4-BE49-F238E27FC236}">
                <a16:creationId xmlns:a16="http://schemas.microsoft.com/office/drawing/2014/main" id="{CFF0F262-072D-33A3-F1A6-437D69C82F2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873271" y="2757384"/>
            <a:ext cx="1483837" cy="1483837"/>
          </a:xfrm>
          <a:prstGeom prst="rect">
            <a:avLst/>
          </a:prstGeom>
        </p:spPr>
      </p:pic>
    </p:spTree>
    <p:extLst>
      <p:ext uri="{BB962C8B-B14F-4D97-AF65-F5344CB8AC3E}">
        <p14:creationId xmlns:p14="http://schemas.microsoft.com/office/powerpoint/2010/main" val="3172826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A75DA-37A2-2612-9071-0C749CCA3E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4D52F2-C5D4-002F-247C-2F994AB4253B}"/>
              </a:ext>
            </a:extLst>
          </p:cNvPr>
          <p:cNvSpPr>
            <a:spLocks noGrp="1"/>
          </p:cNvSpPr>
          <p:nvPr>
            <p:ph type="title"/>
          </p:nvPr>
        </p:nvSpPr>
        <p:spPr/>
        <p:txBody>
          <a:bodyPr/>
          <a:lstStyle/>
          <a:p>
            <a:r>
              <a:rPr lang="en-IN" dirty="0">
                <a:solidFill>
                  <a:srgbClr val="8078EE"/>
                </a:solidFill>
              </a:rPr>
              <a:t>Conclusion</a:t>
            </a:r>
          </a:p>
        </p:txBody>
      </p:sp>
      <p:sp>
        <p:nvSpPr>
          <p:cNvPr id="5" name="Content Placeholder 4">
            <a:extLst>
              <a:ext uri="{FF2B5EF4-FFF2-40B4-BE49-F238E27FC236}">
                <a16:creationId xmlns:a16="http://schemas.microsoft.com/office/drawing/2014/main" id="{25AAEF22-09C5-002E-46D0-1696F5B480A1}"/>
              </a:ext>
            </a:extLst>
          </p:cNvPr>
          <p:cNvSpPr>
            <a:spLocks noGrp="1"/>
          </p:cNvSpPr>
          <p:nvPr>
            <p:ph sz="quarter" idx="13"/>
          </p:nvPr>
        </p:nvSpPr>
        <p:spPr>
          <a:xfrm>
            <a:off x="4886109" y="1362877"/>
            <a:ext cx="6080760" cy="3873267"/>
          </a:xfrm>
        </p:spPr>
        <p:txBody>
          <a:bodyPr>
            <a:noAutofit/>
          </a:bodyPr>
          <a:lstStyle/>
          <a:p>
            <a:pPr marL="0" indent="0">
              <a:buNone/>
            </a:pPr>
            <a:endParaRPr lang="en-US" dirty="0"/>
          </a:p>
          <a:p>
            <a:pPr marL="0" indent="0">
              <a:buNone/>
            </a:pPr>
            <a:r>
              <a:rPr lang="en-US" dirty="0"/>
              <a:t>Unlike regular waste marketplaces that simply list waste and look for buyers, SYMBIO looks beyond the transaction and into identifying material, its possible uses, the demand around it, and the best way to move it forward leading to a more sustainable environment and society by recycling.</a:t>
            </a:r>
          </a:p>
          <a:p>
            <a:pPr marL="0" indent="0">
              <a:buNone/>
            </a:pPr>
            <a:r>
              <a:rPr lang="en-US" dirty="0"/>
              <a:t>We’re turning waste management from a </a:t>
            </a:r>
            <a:r>
              <a:rPr lang="en-US" b="1" dirty="0"/>
              <a:t>“</a:t>
            </a:r>
            <a:r>
              <a:rPr lang="en-US" dirty="0"/>
              <a:t>get rid of it” problem into a “what can we do with it?” opportunity.</a:t>
            </a:r>
          </a:p>
          <a:p>
            <a:pPr marL="0" indent="0">
              <a:buNone/>
            </a:pPr>
            <a:endParaRPr lang="en-IN" dirty="0"/>
          </a:p>
        </p:txBody>
      </p:sp>
    </p:spTree>
    <p:extLst>
      <p:ext uri="{BB962C8B-B14F-4D97-AF65-F5344CB8AC3E}">
        <p14:creationId xmlns:p14="http://schemas.microsoft.com/office/powerpoint/2010/main" val="207195036"/>
      </p:ext>
    </p:extLst>
  </p:cSld>
  <p:clrMapOvr>
    <a:masterClrMapping/>
  </p:clrMapOvr>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7A434096-21D7-44B8-8536-5670F4990977}" vid="{9E2B180D-3A1B-4983-B64A-9C133C18DC9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Dune</Template>
  <TotalTime>165</TotalTime>
  <Words>853</Words>
  <Application>Microsoft Office PowerPoint</Application>
  <PresentationFormat>Widescreen</PresentationFormat>
  <Paragraphs>67</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Neue Haas Grotesk Text Pro</vt:lpstr>
      <vt:lpstr>Dune</vt:lpstr>
      <vt:lpstr>SYMBIO</vt:lpstr>
      <vt:lpstr>Problem</vt:lpstr>
      <vt:lpstr>Solution</vt:lpstr>
      <vt:lpstr>PowerPoint Presentation</vt:lpstr>
      <vt:lpstr>1.USER INPUT      Users enter their waste type, quantity, location and details.</vt:lpstr>
      <vt:lpstr>Innovation</vt:lpstr>
      <vt:lpstr>Impact </vt:lpstr>
      <vt:lpstr>Feasibility</vt:lpstr>
      <vt:lpstr>ROADMAP</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ADARSH KOSHY (RA2411030010400)</dc:creator>
  <cp:lastModifiedBy>Arnab Mukherjee</cp:lastModifiedBy>
  <cp:revision>3</cp:revision>
  <dcterms:created xsi:type="dcterms:W3CDTF">2026-10-08T09:16:58Z</dcterms:created>
  <dcterms:modified xsi:type="dcterms:W3CDTF">2026-10-08T12:25:51Z</dcterms:modified>
</cp:coreProperties>
</file>